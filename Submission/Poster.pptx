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AEE"/>
    <a:srgbClr val="F5F5F5"/>
    <a:srgbClr val="E3E3E3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75"/>
  </p:normalViewPr>
  <p:slideViewPr>
    <p:cSldViewPr snapToGrid="0">
      <p:cViewPr>
        <p:scale>
          <a:sx n="25" d="100"/>
          <a:sy n="25" d="100"/>
        </p:scale>
        <p:origin x="1397" y="-509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EA173A7C-98D4-662B-E91A-3ACB122111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078827" y="12725249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037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B3848E-C944-BA94-F84E-17ACF958EB4A}"/>
              </a:ext>
            </a:extLst>
          </p:cNvPr>
          <p:cNvSpPr>
            <a:spLocks/>
          </p:cNvSpPr>
          <p:nvPr/>
        </p:nvSpPr>
        <p:spPr>
          <a:xfrm>
            <a:off x="24029965" y="5703864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2519995">
              <a:defRPr/>
            </a:pPr>
            <a:endParaRPr lang="en-US" sz="3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B0C629-A0BD-27E1-641C-639B84044F91}"/>
              </a:ext>
            </a:extLst>
          </p:cNvPr>
          <p:cNvSpPr txBox="1"/>
          <p:nvPr/>
        </p:nvSpPr>
        <p:spPr>
          <a:xfrm>
            <a:off x="24335961" y="5480301"/>
            <a:ext cx="10504800" cy="18734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5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Results</a:t>
            </a:r>
            <a:endParaRPr lang="en-US" sz="3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Harmonic – Percussive Separation:</a:t>
            </a: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lvl="0" defTabSz="2519995">
              <a:defRPr/>
            </a:pP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algorithm successfully splits the original audio into its sustained, pitched sounds (horizontal lines in the Harmonic plot) and sharp, transient drum hits (vertical lines in the Percussive plot).</a:t>
            </a:r>
          </a:p>
          <a:p>
            <a:pPr lvl="0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2519995">
              <a:buFont typeface="Arial" panose="020B0604020202020204" pitchFamily="34" charset="0"/>
              <a:buChar char="•"/>
              <a:defRPr/>
            </a:pPr>
            <a:r>
              <a:rPr lang="en-US" sz="3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Performance: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2519995">
              <a:defRPr/>
            </a:pPr>
            <a:endParaRPr lang="en-US" sz="3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2519995">
              <a:defRPr/>
            </a:pPr>
            <a:endParaRPr kumimoji="0" lang="en-US" sz="3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defTabSz="2519995">
              <a:defRPr/>
            </a:pPr>
            <a:endParaRPr kumimoji="0" lang="en-US" sz="3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654" b="1" dirty="0">
              <a:solidFill>
                <a:prstClr val="black"/>
              </a:solidFill>
              <a:latin typeface="Georgia" panose="02040502050405020303" pitchFamily="18" charset="0"/>
            </a:endParaRPr>
          </a:p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ctr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654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ctr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5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References</a:t>
            </a:r>
          </a:p>
          <a:p>
            <a:pPr lvl="0" algn="just" defTabSz="2519995"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3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Jonathan Driedger and Meinard Müller, “A Review of Time-Scale Modification of</a:t>
            </a:r>
          </a:p>
          <a:p>
            <a:pPr lvl="0" algn="just" defTabSz="2519995">
              <a:defRPr/>
            </a:pPr>
            <a:r>
              <a:rPr lang="en-US" sz="3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Music Signals”, Applied Sciences (2016), volume 6, article 57.</a:t>
            </a:r>
          </a:p>
          <a:p>
            <a:pPr lvl="0" defTabSz="2519995">
              <a:defRPr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1BDC1F-4253-93BE-E909-D2E3E16B33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4" y="23773252"/>
            <a:ext cx="35651367" cy="1407088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16CA00FE-82B9-8932-EFAB-2706DD59754C}"/>
              </a:ext>
            </a:extLst>
          </p:cNvPr>
          <p:cNvSpPr>
            <a:spLocks/>
          </p:cNvSpPr>
          <p:nvPr/>
        </p:nvSpPr>
        <p:spPr>
          <a:xfrm>
            <a:off x="185731" y="5039"/>
            <a:ext cx="11752653" cy="12455090"/>
          </a:xfrm>
          <a:custGeom>
            <a:avLst/>
            <a:gdLst>
              <a:gd name="connsiteX0" fmla="*/ 0 w 8312682"/>
              <a:gd name="connsiteY0" fmla="*/ 0 h 8809518"/>
              <a:gd name="connsiteX1" fmla="*/ 8312682 w 8312682"/>
              <a:gd name="connsiteY1" fmla="*/ 0 h 8809518"/>
              <a:gd name="connsiteX2" fmla="*/ 8248871 w 8312682"/>
              <a:gd name="connsiteY2" fmla="*/ 357325 h 8809518"/>
              <a:gd name="connsiteX3" fmla="*/ 264970 w 8312682"/>
              <a:gd name="connsiteY3" fmla="*/ 8748363 h 8809518"/>
              <a:gd name="connsiteX4" fmla="*/ 0 w 8312682"/>
              <a:gd name="connsiteY4" fmla="*/ 8809518 h 880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12682" h="8809518">
                <a:moveTo>
                  <a:pt x="0" y="0"/>
                </a:moveTo>
                <a:lnTo>
                  <a:pt x="8312682" y="0"/>
                </a:lnTo>
                <a:lnTo>
                  <a:pt x="8248871" y="357325"/>
                </a:lnTo>
                <a:cubicBezTo>
                  <a:pt x="7410895" y="4452411"/>
                  <a:pt x="4284949" y="7714069"/>
                  <a:pt x="264970" y="8748363"/>
                </a:cubicBezTo>
                <a:lnTo>
                  <a:pt x="0" y="8809518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46357" rtl="1"/>
            <a:endParaRPr lang="en-US" sz="3037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EDB904-F567-0976-A615-296E3DFB021F}"/>
              </a:ext>
            </a:extLst>
          </p:cNvPr>
          <p:cNvGrpSpPr/>
          <p:nvPr/>
        </p:nvGrpSpPr>
        <p:grpSpPr>
          <a:xfrm>
            <a:off x="185731" y="18722"/>
            <a:ext cx="35651367" cy="1407088"/>
            <a:chOff x="185731" y="18722"/>
            <a:chExt cx="35651367" cy="14070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0D1D2B-CD74-3EC0-1A7E-DD2823DA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31" y="18722"/>
              <a:ext cx="35651367" cy="140708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5350F39-C37A-6532-34D2-E7EA627780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408874" y="257838"/>
              <a:ext cx="3655103" cy="928853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FF67915-D1F3-C9D7-C6EC-4FD70CFE97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5764" y="181120"/>
              <a:ext cx="5796815" cy="1005571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4EFAB-AB8C-CA28-1D50-48A1B49E8B20}"/>
              </a:ext>
            </a:extLst>
          </p:cNvPr>
          <p:cNvSpPr>
            <a:spLocks/>
          </p:cNvSpPr>
          <p:nvPr/>
        </p:nvSpPr>
        <p:spPr>
          <a:xfrm>
            <a:off x="809778" y="1440891"/>
            <a:ext cx="34403273" cy="392103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46357" rtl="1"/>
            <a:endParaRPr lang="en-US" sz="30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C5E95-292C-ABA8-58EF-6AEFEBCEF01C}"/>
              </a:ext>
            </a:extLst>
          </p:cNvPr>
          <p:cNvSpPr txBox="1">
            <a:spLocks/>
          </p:cNvSpPr>
          <p:nvPr/>
        </p:nvSpPr>
        <p:spPr>
          <a:xfrm>
            <a:off x="809779" y="1578118"/>
            <a:ext cx="34380186" cy="1267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634" b="1" dirty="0" err="1">
                <a:solidFill>
                  <a:srgbClr val="F5F5F5"/>
                </a:solidFill>
                <a:latin typeface="Georgia" panose="02040502050405020303" pitchFamily="18" charset="0"/>
              </a:rPr>
              <a:t>SyncRun</a:t>
            </a:r>
            <a:r>
              <a:rPr lang="en-US" sz="7634" b="1" dirty="0">
                <a:solidFill>
                  <a:srgbClr val="F5F5F5"/>
                </a:solidFill>
                <a:latin typeface="Georgia" panose="02040502050405020303" pitchFamily="18" charset="0"/>
              </a:rPr>
              <a:t> – Align Music to Run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6FB1D-CB3A-ADB9-F137-C4249CAB9851}"/>
              </a:ext>
            </a:extLst>
          </p:cNvPr>
          <p:cNvSpPr txBox="1">
            <a:spLocks/>
          </p:cNvSpPr>
          <p:nvPr/>
        </p:nvSpPr>
        <p:spPr>
          <a:xfrm>
            <a:off x="8487505" y="2765365"/>
            <a:ext cx="18390794" cy="165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Matan Granot, Yogev Grinblatt</a:t>
            </a:r>
            <a:endParaRPr lang="he-IL" sz="4000" dirty="0">
              <a:cs typeface="Open Sans Hebrew" panose="00000500000000000000" pitchFamily="2" charset="-79"/>
            </a:endParaRPr>
          </a:p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Advisor</a:t>
            </a:r>
            <a:r>
              <a:rPr lang="he-IL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Dr. Lior Arbel</a:t>
            </a:r>
            <a:endParaRPr lang="he-IL" sz="5089" b="1" dirty="0">
              <a:solidFill>
                <a:srgbClr val="E3E3E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0E0FC3-54B6-7A22-6620-BBA9DC55242F}"/>
              </a:ext>
            </a:extLst>
          </p:cNvPr>
          <p:cNvSpPr>
            <a:spLocks/>
          </p:cNvSpPr>
          <p:nvPr/>
        </p:nvSpPr>
        <p:spPr>
          <a:xfrm>
            <a:off x="827246" y="5466624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82CFC1-305C-A411-B1FF-DD54AA94EB29}"/>
                  </a:ext>
                </a:extLst>
              </p:cNvPr>
              <p:cNvSpPr txBox="1"/>
              <p:nvPr/>
            </p:nvSpPr>
            <p:spPr>
              <a:xfrm>
                <a:off x="1158977" y="5658025"/>
                <a:ext cx="10503375" cy="1888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 defTabSz="2519995">
                  <a:defRPr/>
                </a:pPr>
                <a:r>
                  <a:rPr lang="en-US" sz="5654" b="1" dirty="0">
                    <a:latin typeface="Georgia" panose="02040502050405020303" pitchFamily="18" charset="0"/>
                  </a:rPr>
                  <a:t>Introduction</a:t>
                </a:r>
              </a:p>
              <a:p>
                <a:pPr marL="457200" lvl="0" indent="-457200" algn="just" defTabSz="2519995">
                  <a:buFont typeface="Arial" panose="020B0604020202020204" pitchFamily="34" charset="0"/>
                  <a:buChar char="•"/>
                  <a:defRPr/>
                </a:pP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our project, we want to adjust a simple rhythmic song – like “Seven Nation Army” to match the simulated steps of a runner, during his various workouts.</a:t>
                </a:r>
                <a:endParaRPr lang="he-IL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0" indent="-457200" algn="just" defTabSz="2519995">
                  <a:buFont typeface="Arial" panose="020B0604020202020204" pitchFamily="34" charset="0"/>
                  <a:buChar char="•"/>
                  <a:defRPr/>
                </a:pP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is done by using DSP algorithms, to find the optimal speed-up/speed-down rate, and to stretch the audio by the best value, while keeping the pitch of the original song. These algorithms are implemented in python.</a:t>
                </a: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ctr" defTabSz="2519995">
                  <a:defRPr/>
                </a:pPr>
                <a:r>
                  <a:rPr lang="en-US" sz="5654" b="1" dirty="0">
                    <a:latin typeface="Georgia" panose="02040502050405020303" pitchFamily="18" charset="0"/>
                  </a:rPr>
                  <a:t>Motivation</a:t>
                </a:r>
              </a:p>
              <a:p>
                <a:pPr marL="457200" lvl="0" indent="-457200" algn="just" defTabSz="2519995">
                  <a:buFont typeface="Arial" panose="020B0604020202020204" pitchFamily="34" charset="0"/>
                  <a:buChar char="•"/>
                  <a:defRPr/>
                </a:pP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want to give the runner smoother running experience. Because in reality, most of the songs are slower than the average runner pace.</a:t>
                </a: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6600" b="1" dirty="0">
                    <a:latin typeface="Georgia" panose="02040502050405020303" pitchFamily="18" charset="0"/>
                  </a:rPr>
                  <a:t>Implementation</a:t>
                </a:r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endParaRPr lang="en-US" sz="36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400" b="1" dirty="0"/>
                  <a:t>Pre-processing: </a:t>
                </a:r>
              </a:p>
              <a:p>
                <a:pPr lvl="1"/>
                <a:r>
                  <a:rPr lang="en-US" sz="3400" dirty="0"/>
                  <a:t>First, we make 2 time-stamped vectors – One song beats time stamps (using beat track), Second is run steps time stamps.</a:t>
                </a: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 we do beat alignment - divide those vectors in segments of 2.5 seconds, and find the best speed-up ratio for each segment, in terms of L1 distance.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𝑜𝑝𝑡</m:t>
                              </m:r>
                            </m:sub>
                          </m:sSub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𝑎𝑟𝑔𝑚𝑖𝑛</m:t>
                          </m:r>
                        </m:e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𝑟</m:t>
                          </m:r>
                        </m:sub>
                      </m:sSub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{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𝑏𝑒𝑎𝑡𝑠</m:t>
                              </m:r>
                            </m:e>
                          </m:acc>
                          <m:r>
                            <a:rPr lang="en-US" sz="3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𝑠𝑝𝑒𝑒𝑑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en-US" sz="3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∗</m:t>
                          </m:r>
                          <m:acc>
                            <m:accPr>
                              <m:chr m:val="⃗"/>
                              <m:ctrlP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𝑠𝑡𝑒𝑝𝑠</m:t>
                              </m:r>
                            </m:e>
                          </m:acc>
                        </m:e>
                      </m:d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82CFC1-305C-A411-B1FF-DD54AA94E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977" y="5658025"/>
                <a:ext cx="10503375" cy="18889979"/>
              </a:xfrm>
              <a:prstGeom prst="rect">
                <a:avLst/>
              </a:prstGeom>
              <a:blipFill>
                <a:blip r:embed="rId6"/>
                <a:stretch>
                  <a:fillRect l="-1451" t="-904" r="-162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C0AAB24-095F-B78F-4B9B-B1818F11F683}"/>
              </a:ext>
            </a:extLst>
          </p:cNvPr>
          <p:cNvSpPr>
            <a:spLocks/>
          </p:cNvSpPr>
          <p:nvPr/>
        </p:nvSpPr>
        <p:spPr>
          <a:xfrm>
            <a:off x="12379743" y="5690835"/>
            <a:ext cx="11160000" cy="17828842"/>
          </a:xfrm>
          <a:prstGeom prst="rect">
            <a:avLst/>
          </a:prstGeom>
          <a:solidFill>
            <a:srgbClr val="F5F5F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37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25792-806E-7010-FEF7-A9FE738D7F23}"/>
                  </a:ext>
                </a:extLst>
              </p:cNvPr>
              <p:cNvSpPr txBox="1"/>
              <p:nvPr/>
            </p:nvSpPr>
            <p:spPr>
              <a:xfrm>
                <a:off x="12579899" y="5690835"/>
                <a:ext cx="10504800" cy="17249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 defTabSz="2519995">
                  <a:defRPr/>
                </a:pPr>
                <a:endParaRPr lang="en-US" sz="5654" b="1" dirty="0">
                  <a:latin typeface="Georgia" panose="02040502050405020303" pitchFamily="18" charset="0"/>
                </a:endParaRPr>
              </a:p>
              <a:p>
                <a:pPr lvl="0" algn="just" defTabSz="2519995">
                  <a:defRPr/>
                </a:pPr>
                <a:endParaRPr lang="en-US" sz="5654" b="1" dirty="0">
                  <a:latin typeface="Georgia" panose="02040502050405020303" pitchFamily="18" charset="0"/>
                </a:endParaRPr>
              </a:p>
              <a:p>
                <a:pPr lvl="0" algn="just" defTabSz="2519995">
                  <a:defRPr/>
                </a:pPr>
                <a:endParaRPr lang="en-US" sz="5654" b="1" dirty="0">
                  <a:latin typeface="Georgia" panose="02040502050405020303" pitchFamily="18" charset="0"/>
                </a:endParaRPr>
              </a:p>
              <a:p>
                <a:pPr lvl="0" algn="just" defTabSz="2519995">
                  <a:defRPr/>
                </a:pPr>
                <a:endParaRPr lang="en-US" sz="5654" b="1" dirty="0">
                  <a:latin typeface="Georgia" panose="02040502050405020303" pitchFamily="18" charset="0"/>
                </a:endParaRPr>
              </a:p>
              <a:p>
                <a:pPr lvl="0" algn="just" defTabSz="2519995">
                  <a:defRPr/>
                </a:pPr>
                <a:endParaRPr lang="en-US" sz="5654" b="1" dirty="0">
                  <a:latin typeface="Georgia" panose="02040502050405020303" pitchFamily="18" charset="0"/>
                </a:endParaRPr>
              </a:p>
              <a:p>
                <a:pPr lvl="0" algn="ctr" defTabSz="2519995">
                  <a:defRPr/>
                </a:pPr>
                <a:endParaRPr lang="en-US" sz="5654" b="1" dirty="0">
                  <a:latin typeface="Georgia" panose="02040502050405020303" pitchFamily="18" charset="0"/>
                </a:endParaRPr>
              </a:p>
              <a:p>
                <a:pPr marL="457200" lvl="0" indent="-457200" defTabSz="2519995">
                  <a:buFont typeface="Arial" panose="020B0604020202020204" pitchFamily="34" charset="0"/>
                  <a:buChar char="•"/>
                  <a:defRPr/>
                </a:pPr>
                <a:r>
                  <a:rPr lang="en-US" sz="3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HPS (Harmonic-Precussive Separation):</a:t>
                </a: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0" defTabSz="2519995">
                  <a:defRPr/>
                </a:pPr>
                <a:r>
                  <a:rPr lang="en-US" sz="3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</a:t>
                </a: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apply STFT (Short Time Fourier Transform) : </a:t>
                </a:r>
              </a:p>
              <a:p>
                <a:pPr marL="457200" lvl="0" indent="-457200" defTabSz="2519995">
                  <a:buFont typeface="Arial" panose="020B0604020202020204" pitchFamily="34" charset="0"/>
                  <a:buChar char="•"/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defTabSz="2519995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𝑚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 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</m:e>
                      </m:d>
                      <m:r>
                        <a:rPr lang="en-US" sz="3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𝑁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p>
                        <m:e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𝑚𝐻</m:t>
                              </m:r>
                            </m:e>
                          </m:d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⋅</m:t>
                          </m:r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𝑤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sz="34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4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  <m:r>
                                    <a:rPr lang="en-US" sz="34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34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𝑁</m:t>
                                  </m:r>
                                </m:den>
                              </m:f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𝑘𝑛</m:t>
                              </m:r>
                              <m:r>
                                <a:rPr lang="en-US" sz="34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sz="3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defTabSz="2519995">
                  <a:defRPr/>
                </a:pP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use median filters to separate the harmonic and percussive content.</a:t>
                </a:r>
                <a:endParaRPr lang="en-US" sz="5654" b="1" dirty="0">
                  <a:latin typeface="Georgia" panose="02040502050405020303" pitchFamily="18" charset="0"/>
                </a:endParaRPr>
              </a:p>
              <a:p>
                <a:pPr lvl="0" defTabSz="2519995">
                  <a:defRPr/>
                </a:pPr>
                <a:endParaRPr lang="en-US" sz="3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0" indent="-457200" defTabSz="2519995">
                  <a:buFont typeface="Arial" panose="020B0604020202020204" pitchFamily="34" charset="0"/>
                  <a:buChar char="•"/>
                  <a:defRPr/>
                </a:pPr>
                <a:r>
                  <a:rPr lang="en-US" sz="3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WSOLA</a:t>
                </a: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- Changes audio duration without altering pitch by overlapping similar time-domain waveforms.</a:t>
                </a:r>
              </a:p>
              <a:p>
                <a:pPr lvl="0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0" indent="-457200" defTabSz="2519995">
                  <a:buFont typeface="Arial" panose="020B0604020202020204" pitchFamily="34" charset="0"/>
                  <a:buChar char="•"/>
                  <a:defRPr/>
                </a:pPr>
                <a:r>
                  <a:rPr lang="en-US" sz="3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Phase vocoder (PV-TSM)</a:t>
                </a:r>
                <a:r>
                  <a:rPr lang="en-US" sz="3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- Independently controls time and pitch using the STFT to adjust frequency phases.</a:t>
                </a: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defTabSz="2519995">
                  <a:defRPr/>
                </a:pPr>
                <a:endParaRPr lang="en-US" sz="3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A25792-806E-7010-FEF7-A9FE738D7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899" y="5690835"/>
                <a:ext cx="10504800" cy="17249017"/>
              </a:xfrm>
              <a:prstGeom prst="rect">
                <a:avLst/>
              </a:prstGeom>
              <a:blipFill>
                <a:blip r:embed="rId7"/>
                <a:stretch>
                  <a:fillRect l="-1451" r="-15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A9E7048A-0105-0DB4-1E9E-8A43F18ADB4F}"/>
              </a:ext>
            </a:extLst>
          </p:cNvPr>
          <p:cNvSpPr txBox="1">
            <a:spLocks/>
          </p:cNvSpPr>
          <p:nvPr/>
        </p:nvSpPr>
        <p:spPr>
          <a:xfrm>
            <a:off x="9121439" y="4364259"/>
            <a:ext cx="18390794" cy="875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lang="en-US" sz="395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Number: 25-1-1-3408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C5F3C9-EC7F-7F8B-E427-D63B561A8C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99" y="14981566"/>
            <a:ext cx="11324335" cy="3386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166E2BD-4976-6DCE-A794-FD2063C3F7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3470" y="5615936"/>
            <a:ext cx="8118863" cy="53294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7A6D5F-CA99-07A1-F5A2-DCC297A36E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3470" y="19177669"/>
            <a:ext cx="7806661" cy="4342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623BA15-469A-94BF-B6DB-21099D6F5E1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4791005" y="6947695"/>
            <a:ext cx="8979291" cy="6254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11A2CF-657A-3E03-9EE2-CEE97414E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828383"/>
              </p:ext>
            </p:extLst>
          </p:nvPr>
        </p:nvGraphicFramePr>
        <p:xfrm>
          <a:off x="24411624" y="16389330"/>
          <a:ext cx="10049756" cy="330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4878">
                  <a:extLst>
                    <a:ext uri="{9D8B030D-6E8A-4147-A177-3AD203B41FA5}">
                      <a16:colId xmlns:a16="http://schemas.microsoft.com/office/drawing/2014/main" val="1080977457"/>
                    </a:ext>
                  </a:extLst>
                </a:gridCol>
                <a:gridCol w="5024878">
                  <a:extLst>
                    <a:ext uri="{9D8B030D-6E8A-4147-A177-3AD203B41FA5}">
                      <a16:colId xmlns:a16="http://schemas.microsoft.com/office/drawing/2014/main" val="422046628"/>
                    </a:ext>
                  </a:extLst>
                </a:gridCol>
              </a:tblGrid>
              <a:tr h="89563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Criteria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3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endParaRPr lang="en-IL" sz="3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546369"/>
                  </a:ext>
                </a:extLst>
              </a:tr>
              <a:tr h="918702">
                <a:tc>
                  <a:txBody>
                    <a:bodyPr/>
                    <a:lstStyle/>
                    <a:p>
                      <a:pPr marL="0" algn="ctr" defTabSz="3359963" rtl="0" eaLnBrk="1" latinLnBrk="0" hangingPunct="1"/>
                      <a:r>
                        <a:rPr lang="en-US" sz="3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Beat Alignment Error</a:t>
                      </a:r>
                      <a:endParaRPr lang="en-IL" sz="3400" b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15.67 </a:t>
                      </a:r>
                      <a:r>
                        <a:rPr lang="en-US" sz="34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</a:t>
                      </a:r>
                      <a:endParaRPr lang="en-IL" sz="3400" b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785189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pPr algn="ctr"/>
                      <a:r>
                        <a:rPr lang="en-US" sz="3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Segment Latency</a:t>
                      </a:r>
                      <a:endParaRPr lang="en-IL" sz="3400" b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475 </a:t>
                      </a:r>
                      <a:r>
                        <a:rPr lang="en-US" sz="34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</a:t>
                      </a:r>
                      <a:endParaRPr lang="en-IL" sz="3400" b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515313"/>
                  </a:ext>
                </a:extLst>
              </a:tr>
              <a:tr h="540874">
                <a:tc>
                  <a:txBody>
                    <a:bodyPr/>
                    <a:lstStyle/>
                    <a:p>
                      <a:pPr algn="ctr"/>
                      <a:r>
                        <a:rPr lang="en-US" sz="3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Elapsed Time</a:t>
                      </a:r>
                      <a:endParaRPr lang="en-IL" sz="3400" b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38.47 sec</a:t>
                      </a:r>
                      <a:endParaRPr lang="en-IL" sz="3400" b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38873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CD0B9F5-0D96-8618-775F-1985AE434B5F}"/>
              </a:ext>
            </a:extLst>
          </p:cNvPr>
          <p:cNvSpPr txBox="1"/>
          <p:nvPr/>
        </p:nvSpPr>
        <p:spPr>
          <a:xfrm>
            <a:off x="4950443" y="14876871"/>
            <a:ext cx="4249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Block Diagram</a:t>
            </a:r>
            <a:endParaRPr lang="en-IL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A5DDD5-F887-78F0-D087-A8AD0442D54F}"/>
              </a:ext>
            </a:extLst>
          </p:cNvPr>
          <p:cNvSpPr txBox="1"/>
          <p:nvPr/>
        </p:nvSpPr>
        <p:spPr>
          <a:xfrm>
            <a:off x="19979640" y="21256583"/>
            <a:ext cx="701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WS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11949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713F10-82D8-4B91-A273-2BA44EB6FF7B}">
  <ds:schemaRefs>
    <ds:schemaRef ds:uri="http://purl.org/dc/terms/"/>
    <ds:schemaRef ds:uri="844e0735-f53f-4baa-bd75-b10ae3a2bbdb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347</Words>
  <Application>Microsoft Office PowerPoint</Application>
  <PresentationFormat>Custom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Cambria Math</vt:lpstr>
      <vt:lpstr>Georgia</vt:lpstr>
      <vt:lpstr>Open Sans Hebrew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Yogev Grinblatt</cp:lastModifiedBy>
  <cp:revision>25</cp:revision>
  <dcterms:created xsi:type="dcterms:W3CDTF">2025-05-10T11:28:38Z</dcterms:created>
  <dcterms:modified xsi:type="dcterms:W3CDTF">2026-05-24T14:20:27Z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