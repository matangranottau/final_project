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png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4" r:id="rId6"/>
    <p:sldId id="260" r:id="rId7"/>
    <p:sldId id="275" r:id="rId8"/>
    <p:sldId id="261" r:id="rId9"/>
    <p:sldId id="273" r:id="rId10"/>
    <p:sldId id="262" r:id="rId11"/>
    <p:sldId id="276" r:id="rId12"/>
    <p:sldId id="263" r:id="rId13"/>
    <p:sldId id="264" r:id="rId14"/>
    <p:sldId id="265" r:id="rId15"/>
    <p:sldId id="266" r:id="rId16"/>
    <p:sldId id="267" r:id="rId17"/>
    <p:sldId id="268" r:id="rId18"/>
    <p:sldId id="271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microsoft.com/office/2007/relationships/media" Target="../media/media3.wav"/><Relationship Id="rId7" Type="http://schemas.openxmlformats.org/officeDocument/2006/relationships/image" Target="../media/image2.pn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2.xml"/><Relationship Id="rId4" Type="http://schemas.openxmlformats.org/officeDocument/2006/relationships/audio" Target="../media/media3.wav"/><Relationship Id="rId9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19B56-7D94-149F-64EB-4B81CF669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472FEE4-DBB2-61F0-E4CE-80A1B25CD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72" y="1817843"/>
            <a:ext cx="9945055" cy="322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83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6A4A8-3CE9-6CF1-FEA7-8595C446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48CA64-4886-6066-E55A-3E10B3ECA21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90FED22-F67A-DD4F-253A-AF7DF76C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013805-1AAB-51F9-6F3F-C80D879D2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4A8669-9609-DE8E-62B0-4E6A1BAB0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9D2F261-432F-110E-FCF1-C92D2DD7C6C7}"/>
              </a:ext>
            </a:extLst>
          </p:cNvPr>
          <p:cNvSpPr/>
          <p:nvPr/>
        </p:nvSpPr>
        <p:spPr>
          <a:xfrm>
            <a:off x="3356033" y="1287825"/>
            <a:ext cx="457567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IL" sz="4800" b="1" dirty="0"/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CA23A-DF6F-F4D1-B77B-EFD07159C7A0}"/>
              </a:ext>
            </a:extLst>
          </p:cNvPr>
          <p:cNvSpPr txBox="1"/>
          <p:nvPr/>
        </p:nvSpPr>
        <p:spPr>
          <a:xfrm>
            <a:off x="1306286" y="2690336"/>
            <a:ext cx="81362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•</a:t>
            </a:r>
            <a:r>
              <a:rPr lang="en-IL" sz="2400" dirty="0" err="1"/>
              <a:t>SyncRun</a:t>
            </a:r>
            <a:r>
              <a:rPr lang="en-IL" sz="2400" dirty="0"/>
              <a:t> dynamically adjusts the playback rate of a rhythmic music track to seamlessly match a runner's offline step rhythm.</a:t>
            </a:r>
          </a:p>
          <a:p>
            <a:endParaRPr lang="he-IL" sz="2400" dirty="0"/>
          </a:p>
          <a:p>
            <a:r>
              <a:rPr lang="en-IL" sz="2400" dirty="0"/>
              <a:t>•It uses advanced time-stretch algorithms to synchronize musical beats with physical steps, without altering the original pitch.</a:t>
            </a:r>
          </a:p>
          <a:p>
            <a:endParaRPr lang="he-IL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07387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BD955-7EC6-E0E9-0E17-3E1838C7B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F20CB1-3B37-E6DF-AFF5-E4D948A5BD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8C774E1-5C2A-A1DF-7AB0-6DACBF3AD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5ED4C2-536E-7CF4-4925-A676B29C6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C0015-DA2B-A0E9-A021-927D4015A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1C3061-9A41-3430-EADC-4EAF9BFA8EB1}"/>
              </a:ext>
            </a:extLst>
          </p:cNvPr>
          <p:cNvSpPr/>
          <p:nvPr/>
        </p:nvSpPr>
        <p:spPr>
          <a:xfrm>
            <a:off x="3041544" y="1185188"/>
            <a:ext cx="5449312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/>
              <a:t>Motivation</a:t>
            </a: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DE7C23-6417-88E2-49DB-15B6D5E40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445" y="2297167"/>
            <a:ext cx="8855207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79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5F128-1493-D740-D8FF-DB01F53A1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C94BA8-0039-9FDE-4A4E-94B4BD10F6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5E6915B-F99F-1CEC-0334-68CD266A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10B3E-05AA-2639-2A9D-E2D5A5C00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2A6C0A-D745-FDD2-DC1D-B73F93D5B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7AF50B9-BD02-040A-AB96-07D41FE1AD6C}"/>
              </a:ext>
            </a:extLst>
          </p:cNvPr>
          <p:cNvSpPr/>
          <p:nvPr/>
        </p:nvSpPr>
        <p:spPr>
          <a:xfrm>
            <a:off x="3021224" y="820521"/>
            <a:ext cx="5449312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/>
              <a:t>Problems</a:t>
            </a: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102784-079A-0C25-4508-9CE65E8E4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276" y="1884219"/>
            <a:ext cx="8855207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52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35840-CB28-9CBA-B517-E649F0AC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396BBE-F743-EA81-E96C-24EEFC10AB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997848B-E5A1-AD79-137B-66262BE8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7D1AE8-92F3-8F15-2163-A06486B4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50DFB-E5D8-6707-C781-E95E66198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050805-31FC-9865-286B-7A2CEF92C06F}"/>
              </a:ext>
            </a:extLst>
          </p:cNvPr>
          <p:cNvSpPr/>
          <p:nvPr/>
        </p:nvSpPr>
        <p:spPr>
          <a:xfrm>
            <a:off x="3021224" y="820521"/>
            <a:ext cx="5449312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/>
              <a:t>Block </a:t>
            </a:r>
            <a:r>
              <a:rPr lang="en-US" sz="4800" b="1" dirty="0"/>
              <a:t>Diagram</a:t>
            </a: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76EC2C-7C9F-2930-2D24-9C63C22CA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1904958"/>
            <a:ext cx="101917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508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ECC3-4F0F-C203-560D-010E8CF6D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FFE8D95-87D2-3689-6E50-BA1F5B4584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EFBAFFF-15EB-524E-C299-80165A1B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D8BC1-970C-F1FB-1607-C4FFDCEB3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119E89-709A-CB27-5E44-AE1FA7B70D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2AC59D-6168-E32C-CB61-01EC67E23BB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7902" b="66613"/>
          <a:stretch>
            <a:fillRect/>
          </a:stretch>
        </p:blipFill>
        <p:spPr>
          <a:xfrm>
            <a:off x="1128640" y="1972132"/>
            <a:ext cx="3788800" cy="136629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0BA648D-CE24-E80B-5AAC-58DF4E9A9673}"/>
              </a:ext>
            </a:extLst>
          </p:cNvPr>
          <p:cNvSpPr/>
          <p:nvPr/>
        </p:nvSpPr>
        <p:spPr>
          <a:xfrm>
            <a:off x="2063360" y="793573"/>
            <a:ext cx="7811617" cy="24314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Beat</a:t>
            </a:r>
            <a:r>
              <a:rPr lang="en-IL" sz="32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Detection</a:t>
            </a:r>
            <a:endParaRPr lang="en-IL" sz="320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br>
              <a:rPr lang="en-IL" dirty="0"/>
            </a:b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173E15-63DA-B490-F3C0-A3BE4CCE6E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57" y="3429000"/>
            <a:ext cx="10972822" cy="3191262"/>
          </a:xfrm>
          <a:prstGeom prst="rect">
            <a:avLst/>
          </a:prstGeom>
        </p:spPr>
      </p:pic>
      <p:pic>
        <p:nvPicPr>
          <p:cNvPr id="10" name="clicks_cropped">
            <a:hlinkClick r:id="" action="ppaction://media"/>
            <a:extLst>
              <a:ext uri="{FF2B5EF4-FFF2-40B4-BE49-F238E27FC236}">
                <a16:creationId xmlns:a16="http://schemas.microsoft.com/office/drawing/2014/main" id="{D4FF9098-CE11-F67C-CF75-9FA00B6667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376524" y="2038006"/>
            <a:ext cx="487363" cy="4873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5AA733F-05F5-9A4A-6332-80305256A5E0}"/>
              </a:ext>
            </a:extLst>
          </p:cNvPr>
          <p:cNvSpPr txBox="1"/>
          <p:nvPr/>
        </p:nvSpPr>
        <p:spPr>
          <a:xfrm>
            <a:off x="7863887" y="2097022"/>
            <a:ext cx="2810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 song + clicks on beat</a:t>
            </a:r>
            <a:endParaRPr lang="en-IL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043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7E5C7-197D-4D06-3B20-BD33E0676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6F0B212-BDDB-D739-D8DE-4FB99824D0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FD3A2F4-175D-D739-2369-D4644B11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4441D2-F9F7-D7A0-C56F-123186F3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5E5F71-17A0-AA4A-FE85-9BF5D0834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DD028A-2EFC-5B19-693F-715F83126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544" r="57902"/>
          <a:stretch>
            <a:fillRect/>
          </a:stretch>
        </p:blipFill>
        <p:spPr>
          <a:xfrm>
            <a:off x="1128640" y="3303917"/>
            <a:ext cx="3788800" cy="2760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10C5892-02B4-AAFB-934B-573ED3B5A98F}"/>
              </a:ext>
            </a:extLst>
          </p:cNvPr>
          <p:cNvSpPr/>
          <p:nvPr/>
        </p:nvSpPr>
        <p:spPr>
          <a:xfrm>
            <a:off x="2063360" y="793573"/>
            <a:ext cx="7811617" cy="243143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Beat</a:t>
            </a:r>
            <a:r>
              <a:rPr lang="en-IL" sz="32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Alignment</a:t>
            </a:r>
          </a:p>
          <a:p>
            <a:br>
              <a:rPr lang="en-IL" dirty="0"/>
            </a:br>
            <a:endParaRPr lang="en-IL" sz="4800" b="1" dirty="0"/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9BD51-39AC-7295-FB16-6983A5E3D1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781" y="1829887"/>
            <a:ext cx="5605916" cy="42345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A5CBB6-C50D-4234-6241-5910A01039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090" y="2132401"/>
            <a:ext cx="3115900" cy="40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78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1636F-0A4E-E463-A24A-3F2B6F84C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C66B59-D3F1-B85A-6E85-CA758930F3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CBC2B27-6F8E-1E1A-07D4-0E57D67EF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F7BB8-B4FF-B194-75DD-9719A9A9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FBD0D2-99C2-74F7-8646-C07723716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58B3F4-23CD-B353-126C-8091086D4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742" y="1848768"/>
            <a:ext cx="4759770" cy="122460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7040AF4C-A0F9-E717-B4E9-C42CD6F71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pic>
        <p:nvPicPr>
          <p:cNvPr id="2055" name="Picture 4966">
            <a:extLst>
              <a:ext uri="{FF2B5EF4-FFF2-40B4-BE49-F238E27FC236}">
                <a16:creationId xmlns:a16="http://schemas.microsoft.com/office/drawing/2014/main" id="{57F9953D-6126-616C-1DC1-8A14F6609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2175" y="9953625"/>
            <a:ext cx="1809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9">
            <a:extLst>
              <a:ext uri="{FF2B5EF4-FFF2-40B4-BE49-F238E27FC236}">
                <a16:creationId xmlns:a16="http://schemas.microsoft.com/office/drawing/2014/main" id="{4E99B57E-8ED0-C548-12DB-C0113C767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488" y="2059244"/>
            <a:ext cx="506638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L" altLang="en-IL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audio is first transformed from the time domain into the frequency domain. We utilize a window size of 2048 samples with a 75% overlap to ensure smooth reconstruction and phase coherence.</a:t>
            </a:r>
            <a:endParaRPr kumimoji="0" lang="en-IL" altLang="en-IL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560DD2-995C-E30B-2391-02C1F0057496}"/>
              </a:ext>
            </a:extLst>
          </p:cNvPr>
          <p:cNvSpPr/>
          <p:nvPr/>
        </p:nvSpPr>
        <p:spPr>
          <a:xfrm>
            <a:off x="1036035" y="1011214"/>
            <a:ext cx="942540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Our main weapon:</a:t>
            </a:r>
            <a:r>
              <a:rPr lang="en-IL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Short-Time Fourier Transform (STFT)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77262-63F7-B9BB-4F60-92FA176DB6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847"/>
          <a:stretch>
            <a:fillRect/>
          </a:stretch>
        </p:blipFill>
        <p:spPr>
          <a:xfrm>
            <a:off x="6218644" y="3398072"/>
            <a:ext cx="5602408" cy="2647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 descr="Short-time Fourier transform (STFT) overview.">
            <a:extLst>
              <a:ext uri="{FF2B5EF4-FFF2-40B4-BE49-F238E27FC236}">
                <a16:creationId xmlns:a16="http://schemas.microsoft.com/office/drawing/2014/main" id="{9107D9A7-3733-F174-56B9-915004BEAC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109" b="61502"/>
          <a:stretch>
            <a:fillRect/>
          </a:stretch>
        </p:blipFill>
        <p:spPr>
          <a:xfrm>
            <a:off x="528464" y="3638297"/>
            <a:ext cx="5286410" cy="240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629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3AC6-589E-B307-9489-11DD61FCC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A5D4ACE-3F08-EAB4-2A6D-B2E0E7E622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71061D-8715-D868-1887-062CA4A4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3143C3-44F1-B81B-FF1D-03AD35A7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9</a:t>
            </a:fld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98EF91B2-D919-830D-D011-75102ABDA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L"/>
          </a:p>
        </p:txBody>
      </p:sp>
      <p:pic>
        <p:nvPicPr>
          <p:cNvPr id="2055" name="Picture 4966">
            <a:extLst>
              <a:ext uri="{FF2B5EF4-FFF2-40B4-BE49-F238E27FC236}">
                <a16:creationId xmlns:a16="http://schemas.microsoft.com/office/drawing/2014/main" id="{DB2A5EA8-7E59-1770-FB09-44F8464FE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32175" y="9953625"/>
            <a:ext cx="1809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9B4646-3AD3-82CF-E2C2-581DF491D6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1666" y="205999"/>
            <a:ext cx="1742107" cy="174210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AB84F38-8509-CA8B-7660-EEFA40A59588}"/>
              </a:ext>
            </a:extLst>
          </p:cNvPr>
          <p:cNvSpPr/>
          <p:nvPr/>
        </p:nvSpPr>
        <p:spPr>
          <a:xfrm>
            <a:off x="1229341" y="1074798"/>
            <a:ext cx="665957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Harmonic – Percussive separate (HPS)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2442D-5115-2864-5EF3-1659DD2711EC}"/>
              </a:ext>
            </a:extLst>
          </p:cNvPr>
          <p:cNvSpPr txBox="1"/>
          <p:nvPr/>
        </p:nvSpPr>
        <p:spPr>
          <a:xfrm>
            <a:off x="532959" y="1781468"/>
            <a:ext cx="6096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 applied median filters to separate the original audio into its sustained, pitched sounds (harmonic content) and sharp, transient drum hits (percussive content)</a:t>
            </a:r>
            <a:endParaRPr lang="en-IL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AFDD88-1156-4310-5836-587D887A6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199" y="2957408"/>
            <a:ext cx="4101321" cy="1482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9EBD62-B3C1-3ACB-40C4-B0BF9914E9DC}"/>
              </a:ext>
            </a:extLst>
          </p:cNvPr>
          <p:cNvSpPr txBox="1"/>
          <p:nvPr/>
        </p:nvSpPr>
        <p:spPr>
          <a:xfrm>
            <a:off x="451870" y="4352600"/>
            <a:ext cx="62590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And created </a:t>
            </a:r>
            <a:r>
              <a:rPr lang="en-IL" b="1" dirty="0">
                <a:latin typeface="Arial" panose="020B0604020202020204" pitchFamily="34" charset="0"/>
                <a:cs typeface="Arial" panose="020B0604020202020204" pitchFamily="34" charset="0"/>
              </a:rPr>
              <a:t>binary masks are applied pointwise to the original complex STFT X(</a:t>
            </a:r>
            <a:r>
              <a:rPr lang="en-IL" b="1" dirty="0" err="1">
                <a:latin typeface="Arial" panose="020B0604020202020204" pitchFamily="34" charset="0"/>
                <a:cs typeface="Arial" panose="020B0604020202020204" pitchFamily="34" charset="0"/>
              </a:rPr>
              <a:t>m,k</a:t>
            </a:r>
            <a:r>
              <a:rPr lang="en-IL" b="1" dirty="0">
                <a:latin typeface="Arial" panose="020B0604020202020204" pitchFamily="34" charset="0"/>
                <a:cs typeface="Arial" panose="020B0604020202020204" pitchFamily="34" charset="0"/>
              </a:rPr>
              <a:t>) to isolate the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L" b="1" dirty="0">
                <a:latin typeface="Arial" panose="020B0604020202020204" pitchFamily="34" charset="0"/>
                <a:cs typeface="Arial" panose="020B0604020202020204" pitchFamily="34" charset="0"/>
              </a:rPr>
              <a:t>complex frequency representations of each component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7910F5-3431-B6D6-A01F-BB326183D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1815" y="5497583"/>
            <a:ext cx="3284918" cy="10413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A0C13A-1AA5-E122-4A6E-68E81ED71B9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8951" y="2034078"/>
            <a:ext cx="5370222" cy="371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15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53A7C-D31D-86F0-B139-8F57CC8C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3D7FDC5-B055-2DA6-D77E-C40909BB91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B1228FC-CD13-7F0E-E774-23418812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D345BF-BB8D-7B9C-F63D-353016D6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7AE43F-98B6-DC53-5370-53AED5A02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A066E8-ADE5-8A17-2BAA-96E52C4D37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" r="96"/>
          <a:stretch/>
        </p:blipFill>
        <p:spPr>
          <a:xfrm>
            <a:off x="546221" y="2100137"/>
            <a:ext cx="5102739" cy="40291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1195783-1903-6515-8E80-7E1CA9EAF4E8}"/>
              </a:ext>
            </a:extLst>
          </p:cNvPr>
          <p:cNvSpPr/>
          <p:nvPr/>
        </p:nvSpPr>
        <p:spPr>
          <a:xfrm>
            <a:off x="609193" y="1167377"/>
            <a:ext cx="456708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OLA – good, but not for us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A070F-5644-82DA-9E12-2B187E783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26298" y="1499706"/>
            <a:ext cx="5715495" cy="438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097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644E-35E6-0B32-2DB7-AD820716C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50E36F-D184-7C73-E8F2-6941FE7D6B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2F8AA2-D57B-0FF1-6283-7DE9716E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AAD87-EAA0-26DC-FA5E-B06C3E355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FA1586-38D0-814D-AA17-C02CF8C49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738E58-45D9-9FE0-D6CF-7364A394E2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6883"/>
          <a:stretch>
            <a:fillRect/>
          </a:stretch>
        </p:blipFill>
        <p:spPr>
          <a:xfrm>
            <a:off x="546221" y="2100137"/>
            <a:ext cx="5102739" cy="40291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30FB80-FF42-553D-E628-B486629D963C}"/>
              </a:ext>
            </a:extLst>
          </p:cNvPr>
          <p:cNvSpPr/>
          <p:nvPr/>
        </p:nvSpPr>
        <p:spPr>
          <a:xfrm>
            <a:off x="1320427" y="1148897"/>
            <a:ext cx="14201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WSOLA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D1596-8DB0-6707-71EF-B79716032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6298" y="1476844"/>
            <a:ext cx="5715495" cy="443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90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18C74-F6A9-900D-0F8A-C597BC425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A1CCE2-1F17-676B-3DC1-5B03E38874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23CB924-D82E-8540-F132-4971FD01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20F8B-0ACE-8951-30B1-FF6A93DC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CBBA68-A705-53FC-7C90-BF3B761D5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27BDFC-ED5E-941A-544C-C0F3F7D8AE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5151"/>
          <a:stretch>
            <a:fillRect/>
          </a:stretch>
        </p:blipFill>
        <p:spPr>
          <a:xfrm>
            <a:off x="450207" y="2094122"/>
            <a:ext cx="5015873" cy="390177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AD4EA2B-A742-90B6-1510-B794B84AF57B}"/>
              </a:ext>
            </a:extLst>
          </p:cNvPr>
          <p:cNvSpPr/>
          <p:nvPr/>
        </p:nvSpPr>
        <p:spPr>
          <a:xfrm>
            <a:off x="687931" y="1148897"/>
            <a:ext cx="34786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Phase Vocoder TSM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B44816-D724-FE5A-2176-EE85D45C7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497" y="1441284"/>
            <a:ext cx="5754206" cy="429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54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A59A7-238A-06DB-CCE5-46C984D8A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46805D-43F0-7CE7-A0EA-8915BF7E4D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5DE6ADC-9FF7-32C5-1FF1-640E5EC37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8240B-4D1B-91D5-91FE-F0562429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D24869-DBD9-76CC-AA3B-7E610648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ED9C51A-AD59-8AFC-A3D6-24F2ED80A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428" y="2050862"/>
            <a:ext cx="9809577" cy="41276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C87F4F3-38EB-0031-C0C8-2BB37FD1DFBD}"/>
              </a:ext>
            </a:extLst>
          </p:cNvPr>
          <p:cNvSpPr/>
          <p:nvPr/>
        </p:nvSpPr>
        <p:spPr>
          <a:xfrm>
            <a:off x="1738293" y="1118102"/>
            <a:ext cx="280153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Reconstruction</a:t>
            </a:r>
            <a:endParaRPr lang="en-IL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8562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8B4F-55F3-375E-F5C9-AB02D38A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3A41021-20A8-BCC2-1E18-4F8BF65C53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D73E610-B186-48BF-2244-A4871C7C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EE93A-6BB0-36E0-D1F6-EBFAF67E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F42BB5-530F-C5FF-3973-484F1E164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F48679-9AFC-742C-02FA-C6BB1C889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859" y="1151891"/>
            <a:ext cx="9083827" cy="477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007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709B-C880-8CFC-07C6-0A096CA7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EA3E54-CA1C-116D-6991-F2CBAC2F62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A3691BA-5559-AE98-2013-4F9A85AA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D5C036-887D-60AA-897F-BB6F75C0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E5F61C-B049-11E9-F028-C7FE1D621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42EB09-0912-1486-4C2B-4467DE2A6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19" y="1445742"/>
            <a:ext cx="9805161" cy="386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739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12FE-88FE-8904-34DF-E8B72AF7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CBAABF-E489-C05B-51BE-36772461DF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4B76E6A-FF54-9CA0-58FB-C05C57BCF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B8761B-2744-50DE-6DC2-DC6343AA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E5DFF3-560A-D50D-A98B-790D10C94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AA809B-C3B4-E57D-4726-AB3E5C76F8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121" y="1592008"/>
            <a:ext cx="9613233" cy="4112613"/>
          </a:xfrm>
          <a:prstGeom prst="rect">
            <a:avLst/>
          </a:prstGeom>
        </p:spPr>
      </p:pic>
      <p:pic>
        <p:nvPicPr>
          <p:cNvPr id="5" name="Speed-down example">
            <a:hlinkClick r:id="" action="ppaction://media"/>
            <a:extLst>
              <a:ext uri="{FF2B5EF4-FFF2-40B4-BE49-F238E27FC236}">
                <a16:creationId xmlns:a16="http://schemas.microsoft.com/office/drawing/2014/main" id="{80C03214-8397-D66F-CE55-18FA974809A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427190" y="4705415"/>
            <a:ext cx="487363" cy="487363"/>
          </a:xfrm>
          <a:prstGeom prst="rect">
            <a:avLst/>
          </a:prstGeom>
        </p:spPr>
      </p:pic>
      <p:pic>
        <p:nvPicPr>
          <p:cNvPr id="11" name="Speed-up example">
            <a:hlinkClick r:id="" action="ppaction://media"/>
            <a:extLst>
              <a:ext uri="{FF2B5EF4-FFF2-40B4-BE49-F238E27FC236}">
                <a16:creationId xmlns:a16="http://schemas.microsoft.com/office/drawing/2014/main" id="{95353153-192E-3AB6-3958-355EBD51988D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427189" y="331515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4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862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0166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E63B1-7DD6-0817-5240-1344F56D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342B5F5-FE09-DCF5-3B3A-8F41033F94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5C6D960-402B-3627-DFE4-259E4FAD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4E843-3E65-B3B9-6AD9-292DB2A0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22FAEB-2570-0430-3D03-1A61A9F34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85F115-06B0-695A-9CFB-84A720F50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112" y="1094422"/>
            <a:ext cx="9433471" cy="526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73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3A799-07E7-6E8F-E475-C4F5DD0A7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A8925C-2441-86C9-2FF4-681EA979EA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131C7B-896B-7EDE-99D3-068EC420D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99D13-9713-DFCF-9849-FDE28901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E6E68-816F-18F1-F804-832D935B3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2A44AB-9039-2CFE-DE4A-E16BDF83CFA0}"/>
              </a:ext>
            </a:extLst>
          </p:cNvPr>
          <p:cNvSpPr/>
          <p:nvPr/>
        </p:nvSpPr>
        <p:spPr>
          <a:xfrm>
            <a:off x="972547" y="1121737"/>
            <a:ext cx="37051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L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 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E309F-9080-0031-9831-0833EBDF249E}"/>
              </a:ext>
            </a:extLst>
          </p:cNvPr>
          <p:cNvSpPr txBox="1"/>
          <p:nvPr/>
        </p:nvSpPr>
        <p:spPr>
          <a:xfrm>
            <a:off x="970280" y="2712720"/>
            <a:ext cx="76403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b="1" dirty="0">
                <a:latin typeface="Arial" panose="020B0604020202020204" pitchFamily="34" charset="0"/>
                <a:cs typeface="Arial" panose="020B0604020202020204" pitchFamily="34" charset="0"/>
              </a:rPr>
              <a:t>Transition to real-time, adaptive tempo adjustments using live biometric feedback from smartwatches, accelerometers, and barometers.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L" b="1" dirty="0">
                <a:latin typeface="Arial" panose="020B0604020202020204" pitchFamily="34" charset="0"/>
                <a:cs typeface="Arial" panose="020B0604020202020204" pitchFamily="34" charset="0"/>
              </a:rPr>
              <a:t>Shift processing directly to the mobile device and integrate with commercial platforms like Spotify to synchronize personalized playlists on the fly.</a:t>
            </a:r>
          </a:p>
        </p:txBody>
      </p:sp>
    </p:spTree>
    <p:extLst>
      <p:ext uri="{BB962C8B-B14F-4D97-AF65-F5344CB8AC3E}">
        <p14:creationId xmlns:p14="http://schemas.microsoft.com/office/powerpoint/2010/main" val="2176211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0AED4-5413-E7EC-66EB-0CB7B166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FD2B46-A7FD-D4AA-BFE9-FF21E93127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19" y="273545"/>
            <a:ext cx="2925420" cy="666735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9DE86F-9FC4-41A6-0E24-13368575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2739-273F-4728-8B1A-480EEBF683AC}" type="datetime1">
              <a:rPr lang="en-US" smtClean="0"/>
              <a:t>7/22/2026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071B77-4E90-C012-8B56-D57D9A08B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E5B4A3-2BB9-C332-F5B4-EB077153D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686" y="130933"/>
            <a:ext cx="1742107" cy="174210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443D61-29D4-A3B4-52C9-73EBF9AC7A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369" y="1400094"/>
            <a:ext cx="8618605" cy="376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89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1457</TotalTime>
  <Words>261</Words>
  <Application>Microsoft Office PowerPoint</Application>
  <PresentationFormat>Widescreen</PresentationFormat>
  <Paragraphs>64</Paragraphs>
  <Slides>19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Matan Granot</cp:lastModifiedBy>
  <cp:revision>13</cp:revision>
  <dcterms:created xsi:type="dcterms:W3CDTF">2021-12-15T06:30:50Z</dcterms:created>
  <dcterms:modified xsi:type="dcterms:W3CDTF">2026-07-22T20:27:27Z</dcterms:modified>
</cp:coreProperties>
</file>