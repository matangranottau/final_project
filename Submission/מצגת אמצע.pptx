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62" r:id="rId4"/>
    <p:sldId id="260" r:id="rId5"/>
    <p:sldId id="263" r:id="rId6"/>
    <p:sldId id="266" r:id="rId7"/>
    <p:sldId id="268" r:id="rId8"/>
    <p:sldId id="269" r:id="rId9"/>
    <p:sldId id="267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82" d="100"/>
          <a:sy n="82" d="100"/>
        </p:scale>
        <p:origin x="67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7663B-01EE-4D27-B6B8-967932AFFB1A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04E83-3A76-47C2-B23E-88D5C2E17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418D1-F151-4A1A-AFA6-1FCB5125A92E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05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F67C-1AAC-41A5-BA08-7B0723E42167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22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5C26D-52F0-48CD-A26B-03EAFD2B9DF3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01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BBECA-3C0A-4CD9-9812-4FBF50F0829F}" type="datetime1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1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F0E8-360B-4BB4-8873-CE1C24987C49}" type="datetime1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9C237-DA93-4873-9F13-2D421E4D5784}" type="datetime1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3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2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E89D-0E68-4F88-8280-A11E17E07B1E}" type="datetime1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60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40482-3831-4044-A267-EC94C1533077}" type="datetime1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52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2360F-72F0-40E4-9497-E500D92B1CFF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37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6CB8-DFD9-47B7-B7FB-CD991A84E186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8A5E2-79BB-466B-93AD-FE62946A96F1}" type="datetime1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/>
          </a:bodyPr>
          <a:lstStyle/>
          <a:p>
            <a:pPr algn="ctr"/>
            <a:r>
              <a:rPr lang="he-IL" sz="3200" dirty="0"/>
              <a:t>התאמת קצב השיר למדדים הפיזיולוגיים בגוף </a:t>
            </a:r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1B552C0-CACB-B164-FED7-998E51D6D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מס' פרויקט – 3408</a:t>
            </a:r>
            <a:br>
              <a:rPr lang="en-US" dirty="0"/>
            </a:br>
            <a:endParaRPr lang="he-IL" dirty="0"/>
          </a:p>
          <a:p>
            <a:pPr algn="r" rtl="1"/>
            <a:r>
              <a:rPr lang="he-IL" dirty="0"/>
              <a:t>סטודנטים: יוגב גרינבלט, מתן גרנות.</a:t>
            </a:r>
            <a:br>
              <a:rPr lang="en-US" dirty="0"/>
            </a:br>
            <a:endParaRPr lang="he-IL" dirty="0"/>
          </a:p>
          <a:p>
            <a:pPr algn="r" rtl="1"/>
            <a:r>
              <a:rPr lang="he-IL" dirty="0"/>
              <a:t>מנחה: ד"ר ליאור ארבל.</a:t>
            </a:r>
            <a:br>
              <a:rPr lang="en-US" dirty="0"/>
            </a:br>
            <a:endParaRPr lang="he-IL" dirty="0"/>
          </a:p>
          <a:p>
            <a:pPr algn="r" rtl="1"/>
            <a:r>
              <a:rPr lang="he-IL" dirty="0"/>
              <a:t>הפרויקט מתבצע באונ' תל אביב.</a:t>
            </a:r>
            <a:br>
              <a:rPr lang="en-US" dirty="0"/>
            </a:br>
            <a:endParaRPr lang="he-IL" dirty="0"/>
          </a:p>
          <a:p>
            <a:pPr algn="r" rtl="1"/>
            <a:r>
              <a:rPr lang="he-IL" dirty="0"/>
              <a:t>חתימת המנחה (דיגיטלית): </a:t>
            </a:r>
            <a:r>
              <a:rPr lang="en-US" u="sng" dirty="0"/>
              <a:t>Dr. Lior Arbel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8F103F-F29F-3BDB-AD45-C7706B741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-344904"/>
            <a:ext cx="2318657" cy="231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83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98DFE-ACBC-72A4-A5DB-BE62EC7D5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EC841E-B3A3-D364-0A4E-414E274D5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/>
          </a:bodyPr>
          <a:lstStyle/>
          <a:p>
            <a:pPr algn="ctr"/>
            <a:r>
              <a:rPr lang="he-IL" sz="3200" dirty="0"/>
              <a:t>התאמת קצב השיר למדדים הפיזיולוגיים בגוף 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AAD268-76AC-40B0-4F6D-C001C73409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687547-D64C-AC8E-C64D-47D716C77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14904E-BBF4-9F03-F974-7F90A6569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2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B4089F8-7133-C722-87CA-DF310F5F2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b="1" dirty="0"/>
              <a:t>נושא הפרויקט:</a:t>
            </a:r>
            <a:r>
              <a:rPr lang="en-US" b="1" dirty="0"/>
              <a:t> </a:t>
            </a:r>
            <a:r>
              <a:rPr lang="he-IL" dirty="0"/>
              <a:t>סנכרון קצב השמעת השיר, לקצב ריצה של משתמש בעזרת אלגוריתמים מעולם עיבוד האותות.</a:t>
            </a:r>
            <a:br>
              <a:rPr lang="en-US" dirty="0"/>
            </a:br>
            <a:endParaRPr lang="he-IL" b="1" dirty="0"/>
          </a:p>
          <a:p>
            <a:pPr algn="r" rtl="1"/>
            <a:r>
              <a:rPr lang="he-IL" b="1" dirty="0"/>
              <a:t>מטרת הפרויקט:</a:t>
            </a:r>
            <a:r>
              <a:rPr lang="he-IL" dirty="0"/>
              <a:t> לשפר את חוויית הריצה של המשתמש באמצעות מוזיקה שמתאימה את עצמה לקצב הריצה שלו, באופן דינמי ונעים.</a:t>
            </a:r>
          </a:p>
          <a:p>
            <a:pPr marL="0" indent="0" algn="r" rtl="1">
              <a:buNone/>
            </a:pPr>
            <a:endParaRPr lang="he-IL" dirty="0"/>
          </a:p>
          <a:p>
            <a:pPr algn="r" rtl="1"/>
            <a:r>
              <a:rPr lang="he-IL" b="1" dirty="0"/>
              <a:t>מהות הפרויקט:</a:t>
            </a:r>
            <a:r>
              <a:rPr lang="he-IL" dirty="0"/>
              <a:t> פיתוח אלגוריתם שמדמה אות ריצה, ומשווה באופן רציף בין קצב הריצה, לקצב המוזיקה. כל פרק זמן קצר יאיץ/יאט את השיר המתנגן - לפי יחס הקצבים באותו פרק זמן.</a:t>
            </a:r>
            <a:endParaRPr lang="en-US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FE3031-761F-496C-030F-72CF79E51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-344904"/>
            <a:ext cx="2318657" cy="231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853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93995-FE79-DF99-3633-88E10FE33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C985EE-F91A-3299-75D6-2994BBC17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/>
          </a:bodyPr>
          <a:lstStyle/>
          <a:p>
            <a:pPr algn="ctr"/>
            <a:r>
              <a:rPr lang="he-IL" sz="3200" dirty="0"/>
              <a:t>התאמת קצב השיר למדדים הפיזיולוגיים בגוף 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2CD798-9213-6985-79D0-CD0F78BF57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6D26542-00B6-C2E9-1135-8AFFBE4CB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FD261E-E12A-2CC3-7952-D461B60F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3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7B72D35-B21E-A664-5321-162302CDA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r" rtl="1"/>
            <a:r>
              <a:rPr lang="he-IL" b="1" dirty="0"/>
              <a:t>אופן מימוש הפרויקט:</a:t>
            </a:r>
          </a:p>
          <a:p>
            <a:pPr algn="r" rtl="1"/>
            <a:r>
              <a:rPr lang="he-IL" dirty="0"/>
              <a:t>הפרויקט ימומש בפייתון, תוך שימוש בספריות כגון </a:t>
            </a:r>
            <a:r>
              <a:rPr lang="en-US" dirty="0" err="1"/>
              <a:t>Librosa</a:t>
            </a:r>
            <a:r>
              <a:rPr lang="he-IL" dirty="0"/>
              <a:t> ו-</a:t>
            </a:r>
            <a:r>
              <a:rPr lang="en-US" dirty="0" err="1"/>
              <a:t>Numpy</a:t>
            </a:r>
            <a:r>
              <a:rPr lang="he-IL" dirty="0"/>
              <a:t>.</a:t>
            </a:r>
          </a:p>
          <a:p>
            <a:pPr algn="r" rtl="1"/>
            <a:r>
              <a:rPr lang="he-IL" dirty="0"/>
              <a:t>ראשית, נדמה אות ריצה עם קצב משתנה.</a:t>
            </a:r>
          </a:p>
          <a:p>
            <a:pPr algn="r" rtl="1"/>
            <a:r>
              <a:rPr lang="he-IL" dirty="0"/>
              <a:t>שנית, נטען קובץ אודיו של שיר בעזרת </a:t>
            </a:r>
            <a:r>
              <a:rPr lang="en-US" dirty="0" err="1"/>
              <a:t>Librosa</a:t>
            </a:r>
            <a:r>
              <a:rPr lang="he-IL" dirty="0"/>
              <a:t>.</a:t>
            </a:r>
          </a:p>
          <a:p>
            <a:pPr algn="r" rtl="1"/>
            <a:r>
              <a:rPr lang="he-IL" dirty="0"/>
              <a:t>בעזרת פונקציות מ</a:t>
            </a:r>
            <a:r>
              <a:rPr lang="en-US" dirty="0" err="1"/>
              <a:t>Librosa</a:t>
            </a:r>
            <a:r>
              <a:rPr lang="he-IL" dirty="0"/>
              <a:t> נקבל נתוני קצב עבור אות הריצה ואות השיר.</a:t>
            </a:r>
          </a:p>
          <a:p>
            <a:pPr algn="r" rtl="1"/>
            <a:r>
              <a:rPr lang="he-IL" dirty="0"/>
              <a:t>נעביר את נתוני הקצב דרך עיבוד מקדים, שייתן את קצב ההאצה המתאים - עבור כל פרק זמן.</a:t>
            </a:r>
          </a:p>
          <a:p>
            <a:pPr algn="r" rtl="1"/>
            <a:r>
              <a:rPr lang="he-IL" dirty="0"/>
              <a:t>עבור כל פרק זמן כזה – נעביר את אות השמע דרך מערכת </a:t>
            </a:r>
            <a:r>
              <a:rPr lang="en-US" dirty="0"/>
              <a:t>“Time Scale Modification”</a:t>
            </a:r>
            <a:r>
              <a:rPr lang="he-IL" dirty="0"/>
              <a:t> שתאיץ את אות השמע באותו קצב ההאצה שבחרנו, מבלי לשנות את גובה הצליל </a:t>
            </a:r>
            <a:r>
              <a:rPr lang="en-US" dirty="0"/>
              <a:t>(pitch)</a:t>
            </a:r>
            <a:r>
              <a:rPr lang="he-IL" dirty="0"/>
              <a:t>.</a:t>
            </a:r>
          </a:p>
          <a:p>
            <a:pPr marL="0" indent="0" algn="r" rtl="1">
              <a:buNone/>
            </a:pPr>
            <a:endParaRPr lang="he-IL" dirty="0"/>
          </a:p>
          <a:p>
            <a:pPr marL="0" indent="0" algn="r" rtl="1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46EB76-369B-8231-DAF6-2C503A6B8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-344904"/>
            <a:ext cx="2318657" cy="231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286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B1F43-D52E-5C6C-6A43-95CC236ED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8B554B-BC78-0506-492A-4D7293DC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/>
          </a:bodyPr>
          <a:lstStyle/>
          <a:p>
            <a:pPr algn="ctr"/>
            <a:r>
              <a:rPr lang="he-IL" sz="3200" dirty="0"/>
              <a:t>התאמת קצב השיר למדדים הפיזיולוגיים בגוף 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F17C7D-3B80-5E73-890D-E8D2C71F35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D6D5FD-0217-4F9C-FBBE-58FE64AB6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AD68B5-88CA-4598-A429-61FD74510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4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DFA7072-7066-00F2-905F-2401F511B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1929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algn="r" rtl="1"/>
            <a:r>
              <a:rPr lang="he-IL" b="1" u="sng" dirty="0"/>
              <a:t>תוצרי הפרויקט: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b="1" dirty="0"/>
              <a:t>שיר עם "קליק" </a:t>
            </a:r>
            <a:r>
              <a:rPr lang="he-IL" dirty="0"/>
              <a:t>– השיר שטענו, עם "קליק" על זמני הפעמות בשיר.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b="1" dirty="0"/>
              <a:t>גרף האצה + קצבים</a:t>
            </a:r>
            <a:r>
              <a:rPr lang="he-IL" dirty="0"/>
              <a:t> – גרף המראה את ההאצה הנדרשת בזמן, לפי יחס הקצבים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b="1" dirty="0"/>
              <a:t> טבלה פעמות</a:t>
            </a:r>
            <a:r>
              <a:rPr lang="he-IL" dirty="0"/>
              <a:t> – טבלה שמראה את קצב ההאצה האופטימלי מבחינת מינימום הפרש בין זמני פעמות בשיר ובריצה.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b="1" dirty="0"/>
              <a:t>מדידת </a:t>
            </a:r>
            <a:r>
              <a:rPr lang="en-US" b="1" dirty="0"/>
              <a:t>Latency</a:t>
            </a:r>
            <a:r>
              <a:rPr lang="he-IL" b="1" dirty="0"/>
              <a:t> –</a:t>
            </a:r>
            <a:r>
              <a:rPr lang="he-IL" dirty="0"/>
              <a:t> מדידת </a:t>
            </a:r>
            <a:r>
              <a:rPr lang="en-US" dirty="0"/>
              <a:t>Latency</a:t>
            </a:r>
            <a:r>
              <a:rPr lang="he-IL" dirty="0"/>
              <a:t> של המערכת.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b="1" dirty="0"/>
              <a:t>שיר לאחר האצה -</a:t>
            </a:r>
            <a:r>
              <a:rPr lang="he-IL" dirty="0"/>
              <a:t> שיר לאחר האצה, מסונכרן עם נתוני הריצה.</a:t>
            </a:r>
          </a:p>
          <a:p>
            <a:pPr algn="r" rtl="1"/>
            <a:r>
              <a:rPr lang="he-IL" b="1" u="sng" dirty="0"/>
              <a:t>דרישות כמותיות: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b="1" dirty="0"/>
              <a:t>קצב דגימה מינימלי -</a:t>
            </a:r>
            <a:r>
              <a:rPr lang="he-IL" dirty="0"/>
              <a:t> </a:t>
            </a:r>
            <a:r>
              <a:rPr lang="en-US" dirty="0"/>
              <a:t>20KHz</a:t>
            </a:r>
            <a:r>
              <a:rPr lang="he-IL" b="1" dirty="0"/>
              <a:t> 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b="1" dirty="0"/>
              <a:t>יחס קצבים מקסימלי - </a:t>
            </a:r>
            <a:r>
              <a:rPr lang="he-IL" dirty="0"/>
              <a:t>10%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b="1" dirty="0"/>
              <a:t>תחום האצה – </a:t>
            </a:r>
            <a:r>
              <a:rPr lang="en-US" dirty="0"/>
              <a:t>[x0.8, x1.5]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b="1" dirty="0"/>
              <a:t>הפרש פעמות מקסימלי</a:t>
            </a:r>
            <a:r>
              <a:rPr lang="he-IL" dirty="0"/>
              <a:t> – </a:t>
            </a:r>
            <a:r>
              <a:rPr lang="en-US" dirty="0"/>
              <a:t>50ms</a:t>
            </a:r>
            <a:endParaRPr lang="he-IL" dirty="0"/>
          </a:p>
          <a:p>
            <a:pPr marL="514350" indent="-514350" algn="r" rtl="1">
              <a:buFont typeface="+mj-lt"/>
              <a:buAutoNum type="arabicPeriod"/>
            </a:pPr>
            <a:r>
              <a:rPr lang="en-US" b="1" dirty="0"/>
              <a:t>Latency</a:t>
            </a:r>
            <a:r>
              <a:rPr lang="he-IL" b="1" dirty="0"/>
              <a:t> – </a:t>
            </a:r>
            <a:r>
              <a:rPr lang="he-IL" dirty="0"/>
              <a:t>2 שניות</a:t>
            </a:r>
          </a:p>
          <a:p>
            <a:pPr marL="514350" indent="-514350" algn="r" rtl="1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E7C2F0-B834-95CC-96E9-08B9A7DA4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-344904"/>
            <a:ext cx="2318657" cy="231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573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B2127-5DE6-8D58-DDB9-1AB2547BB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EECDF9-14E2-DCCE-7925-5ACA17CDB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/>
          </a:bodyPr>
          <a:lstStyle/>
          <a:p>
            <a:pPr algn="ctr"/>
            <a:r>
              <a:rPr lang="he-IL" sz="3200" dirty="0"/>
              <a:t>התאמת קצב השיר למדדים הפיזיולוגיים בגוף 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0C514D-A7C5-CC27-0FDC-B209C1C21A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72A9F03-55B6-1FD6-1D75-3699B2F77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B3BD76-2CA2-A34A-ACA9-882CF527D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5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B29554-3925-6D57-8C1E-78FB75A5B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All the project is implemented in Python.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D6981F-60D7-AEC9-E340-5F968D380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-344904"/>
            <a:ext cx="2318657" cy="23186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25F60BF-3FE2-1425-1C01-7B5053A7DF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53"/>
          <a:stretch>
            <a:fillRect/>
          </a:stretch>
        </p:blipFill>
        <p:spPr>
          <a:xfrm>
            <a:off x="1200152" y="1322962"/>
            <a:ext cx="9607278" cy="440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3D5F9-97CB-5943-F5A0-9600AF82A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4E5FE4-60B4-2662-A543-12D87F45C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/>
          </a:bodyPr>
          <a:lstStyle/>
          <a:p>
            <a:pPr algn="ctr"/>
            <a:r>
              <a:rPr lang="he-IL" sz="3200" dirty="0"/>
              <a:t>התאמת קצב השיר למדדים הפיזיולוגיים בגוף 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2B1FC1-1E26-C0AE-CA75-5A900B8228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A2BC436-FAEC-EF31-6AA3-3895D3EC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637510-F620-113B-350F-E17275D8D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A386ECD6-5E35-8BC9-DEC6-A2A8EA3A9E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algn="r" rtl="1"/>
                <a:r>
                  <a:rPr lang="en-US" sz="2400" b="1" dirty="0"/>
                  <a:t>Sequence extraction</a:t>
                </a:r>
                <a:r>
                  <a:rPr lang="he-IL" sz="2400" b="1" dirty="0"/>
                  <a:t> </a:t>
                </a:r>
                <a:r>
                  <a:rPr lang="he-IL" sz="2400" dirty="0"/>
                  <a:t>– פונק' ממומשות מראש </a:t>
                </a:r>
                <a:r>
                  <a:rPr lang="en-US" sz="2400" dirty="0" err="1"/>
                  <a:t>Librosa</a:t>
                </a:r>
                <a:r>
                  <a:rPr lang="he-IL" sz="2400" dirty="0"/>
                  <a:t>:</a:t>
                </a:r>
                <a:br>
                  <a:rPr lang="en-US" sz="2400" dirty="0"/>
                </a:br>
                <a:r>
                  <a:rPr lang="he-IL" sz="2400" dirty="0"/>
                  <a:t>מאפשר הוצאת נתוני קצב מתוך אות השיר – מס' פעמות לדקה (</a:t>
                </a:r>
                <a:r>
                  <a:rPr lang="en-US" sz="2400" dirty="0"/>
                  <a:t>BPM</a:t>
                </a:r>
                <a:r>
                  <a:rPr lang="he-IL" sz="2400" dirty="0"/>
                  <a:t>), וקטור זמני פעמות.</a:t>
                </a:r>
                <a:br>
                  <a:rPr lang="en-US" sz="2400" dirty="0"/>
                </a:br>
                <a:r>
                  <a:rPr lang="he-IL" sz="2400" dirty="0"/>
                  <a:t>וגם מאות הריצה – מס' צעדים לדקה(</a:t>
                </a:r>
                <a:r>
                  <a:rPr lang="en-US" sz="2400" dirty="0"/>
                  <a:t>SPM</a:t>
                </a:r>
                <a:r>
                  <a:rPr lang="he-IL" sz="2400" dirty="0"/>
                  <a:t>), וקטור זמני צעדים.</a:t>
                </a:r>
              </a:p>
              <a:p>
                <a:pPr algn="r" rtl="1"/>
                <a:r>
                  <a:rPr lang="en-US" sz="2400" b="1" dirty="0"/>
                  <a:t>Preprocessing</a:t>
                </a:r>
                <a:r>
                  <a:rPr lang="he-IL" sz="2400" b="1" dirty="0"/>
                  <a:t> – </a:t>
                </a:r>
                <a:r>
                  <a:rPr lang="he-IL" sz="2400" dirty="0"/>
                  <a:t>מומש עצמאית, מחולק ל2 תתי בלוקים (שני מימושים שונים):</a:t>
                </a:r>
              </a:p>
              <a:p>
                <a:pPr marL="0" indent="0" algn="r" rtl="1">
                  <a:buNone/>
                </a:pPr>
                <a:br>
                  <a:rPr lang="en-US" sz="2400" dirty="0"/>
                </a:br>
                <a:r>
                  <a:rPr lang="en-US" sz="2400" b="1" dirty="0"/>
                  <a:t>Tempo Alignment</a:t>
                </a:r>
                <a:r>
                  <a:rPr lang="he-IL" sz="2400" b="1" dirty="0"/>
                  <a:t> – </a:t>
                </a:r>
                <a:r>
                  <a:rPr lang="he-IL" sz="2400" dirty="0"/>
                  <a:t>נמצא את ה</a:t>
                </a:r>
                <a:r>
                  <a:rPr lang="en-US" sz="2400" dirty="0"/>
                  <a:t>SPM</a:t>
                </a:r>
                <a:r>
                  <a:rPr lang="he-IL" sz="2400" dirty="0"/>
                  <a:t> הרגעי,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𝑆𝑃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he-IL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sz="2400" dirty="0"/>
                  <a:t>  לכל </a:t>
                </a:r>
                <a14:m>
                  <m:oMath xmlns:m="http://schemas.openxmlformats.org/officeDocument/2006/math">
                    <m:r>
                      <a:rPr lang="he-IL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he-IL" sz="2400" dirty="0"/>
                  <a:t> שניות:</a:t>
                </a:r>
                <a:br>
                  <a:rPr lang="en-US" sz="2400" dirty="0"/>
                </a:br>
                <a:r>
                  <a:rPr lang="he-IL" sz="2400" dirty="0"/>
                  <a:t>נמצא את ההאצה הגולמית בין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𝑆𝑃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𝐵𝑃𝑀</m:t>
                        </m:r>
                      </m:den>
                    </m:f>
                  </m:oMath>
                </a14:m>
                <a:r>
                  <a:rPr lang="he-IL" sz="2400" b="1" dirty="0"/>
                  <a:t> </a:t>
                </a:r>
                <a:r>
                  <a:rPr lang="he-IL" sz="2400" dirty="0"/>
                  <a:t>ונבצע החלקה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acc>
                      <m:accPr>
                        <m:chr m:val="̃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400" b="1" dirty="0"/>
                  <a:t> </a:t>
                </a:r>
              </a:p>
              <a:p>
                <a:pPr marL="0" indent="0" algn="r" rtl="1">
                  <a:buNone/>
                </a:pPr>
                <a:r>
                  <a:rPr lang="en-US" sz="2400" b="1" dirty="0"/>
                  <a:t>Beat Alignment</a:t>
                </a:r>
                <a:r>
                  <a:rPr lang="he-IL" sz="2400" b="1" dirty="0"/>
                  <a:t> – </a:t>
                </a:r>
                <a:r>
                  <a:rPr lang="he-IL" sz="2400" dirty="0"/>
                  <a:t>בעזרת וקטורי זמני הפעמות והצעדים, נרצה למצוא </a:t>
                </a:r>
                <a:r>
                  <a:rPr lang="en-US" sz="2400" dirty="0"/>
                  <a:t>r</a:t>
                </a:r>
                <a:r>
                  <a:rPr lang="he-IL" sz="2400" dirty="0"/>
                  <a:t> שמביא למינימום את הביטוי</a:t>
                </a:r>
              </a:p>
              <a:p>
                <a:pPr marL="0" indent="0" algn="r" rtl="1">
                  <a:buNone/>
                </a:pPr>
                <a:r>
                  <a:rPr lang="he-IL" sz="2400" dirty="0"/>
                  <a:t> </a:t>
                </a:r>
                <a14:m>
                  <m:oMath xmlns:m="http://schemas.openxmlformats.org/officeDocument/2006/math">
                    <m:r>
                      <a:rPr lang="he-IL" sz="2400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he-IL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he-IL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𝑆𝑜𝑛𝑔</m:t>
                            </m:r>
                          </m:e>
                        </m:acc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𝐶𝑎𝑑𝑒𝑛𝑐𝑒</m:t>
                            </m:r>
                          </m:e>
                        </m:acc>
                      </m:e>
                    </m:d>
                  </m:oMath>
                </a14:m>
                <a:r>
                  <a:rPr lang="he-IL" sz="2400" dirty="0"/>
                  <a:t>כל פרק זמן</a:t>
                </a:r>
                <a:r>
                  <a:rPr lang="he-IL" sz="2400" b="1" dirty="0"/>
                  <a:t>, </a:t>
                </a:r>
                <a:r>
                  <a:rPr lang="he-IL" sz="2400" dirty="0"/>
                  <a:t>בעזרת אלגוריתם </a:t>
                </a:r>
                <a:r>
                  <a:rPr lang="en-US" sz="2400" dirty="0"/>
                  <a:t>“L1 scalar regression”</a:t>
                </a:r>
                <a:r>
                  <a:rPr lang="he-IL" sz="2400" dirty="0"/>
                  <a:t>, שמחשב את היחס עבור כל קוארדינטה בוקטור, ולוקח את החציון המשוקלל בתור </a:t>
                </a:r>
                <a:r>
                  <a:rPr lang="en-US" sz="2400" dirty="0"/>
                  <a:t>r</a:t>
                </a:r>
                <a:r>
                  <a:rPr lang="he-IL" sz="2400" dirty="0"/>
                  <a:t>.</a:t>
                </a:r>
              </a:p>
              <a:p>
                <a:pPr algn="r" rtl="1"/>
                <a:r>
                  <a:rPr lang="en-US" sz="2400" b="1" dirty="0"/>
                  <a:t>Time Scale Modification</a:t>
                </a:r>
                <a:r>
                  <a:rPr lang="he-IL" sz="2400" b="1" dirty="0"/>
                  <a:t> – </a:t>
                </a:r>
                <a:r>
                  <a:rPr lang="he-IL" sz="2400" dirty="0"/>
                  <a:t>ימומש עצמאית, יבוצע על ידי התמרת </a:t>
                </a:r>
                <a:r>
                  <a:rPr lang="en-US" sz="2400" dirty="0"/>
                  <a:t>STFT</a:t>
                </a:r>
                <a:r>
                  <a:rPr lang="he-IL" sz="2400" dirty="0"/>
                  <a:t> עבור אות השיר, הפרדה לאות הרמוני ואות הקשתי, האצת האות הקשתי בתחום הזמן בעזרת אלגוריתם </a:t>
                </a:r>
                <a:r>
                  <a:rPr lang="en-US" sz="2400" dirty="0"/>
                  <a:t>WSOLA</a:t>
                </a:r>
                <a:r>
                  <a:rPr lang="he-IL" sz="2400" dirty="0"/>
                  <a:t> שמכווץ פריימים של השיר בזמן.</a:t>
                </a:r>
                <a:br>
                  <a:rPr lang="en-US" sz="2400" dirty="0"/>
                </a:br>
                <a:r>
                  <a:rPr lang="he-IL" sz="2400" dirty="0"/>
                  <a:t>והאצת האות ההרמוני בתחום התדר, בעזרת אלגוריתם </a:t>
                </a:r>
                <a:r>
                  <a:rPr lang="en-US" sz="2400" dirty="0"/>
                  <a:t>Phase-Vocoder</a:t>
                </a:r>
                <a:r>
                  <a:rPr lang="he-IL" sz="2400" dirty="0"/>
                  <a:t> שעושה מניפולציה לסיגנל בתחום התדר. בסוף צריך לסכום את שני התוצאות, ונקבל במוצא אות השיר המואץ.</a:t>
                </a:r>
                <a:endParaRPr lang="en-US" sz="2400" b="1" dirty="0"/>
              </a:p>
            </p:txBody>
          </p:sp>
        </mc:Choice>
        <mc:Fallback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A386ECD6-5E35-8BC9-DEC6-A2A8EA3A9E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32" t="-2661" r="-63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04AAC50A-749E-A8D1-E8EE-B0C816154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00" y="-344904"/>
            <a:ext cx="2318657" cy="231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880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C9306-7556-808C-206B-CC01EB142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BEDC7A-964A-B274-5B6B-38AE517E9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/>
          </a:bodyPr>
          <a:lstStyle/>
          <a:p>
            <a:pPr algn="ctr"/>
            <a:r>
              <a:rPr lang="he-IL" sz="3200" dirty="0"/>
              <a:t>התאמת קצב השיר למדדים הפיזיולוגיים בגוף 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AF4052-29F8-8FC2-FEB4-754CEE7326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845D09F-4271-0977-D1F3-EDBF8DBE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81015B-37C2-A8E5-B640-2C5B8F759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7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EA68687-8327-A9DA-75E0-437D5B77A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902" y="1641929"/>
            <a:ext cx="10515600" cy="4351338"/>
          </a:xfrm>
        </p:spPr>
        <p:txBody>
          <a:bodyPr/>
          <a:lstStyle/>
          <a:p>
            <a:endParaRPr lang="en-US" dirty="0"/>
          </a:p>
          <a:p>
            <a:pPr algn="r" rtl="1"/>
            <a:r>
              <a:rPr lang="he-IL" b="1" u="sng" dirty="0"/>
              <a:t>שיר עם "קליק":</a:t>
            </a:r>
            <a:br>
              <a:rPr lang="en-US" b="1" dirty="0"/>
            </a:br>
            <a:r>
              <a:rPr lang="he-IL" b="1" dirty="0">
                <a:highlight>
                  <a:srgbClr val="00FF00"/>
                </a:highlight>
              </a:rPr>
              <a:t>דרישה כמותית 1: </a:t>
            </a:r>
            <a:r>
              <a:rPr lang="he-IL" dirty="0"/>
              <a:t>נדגם בקצב של </a:t>
            </a:r>
            <a:r>
              <a:rPr lang="en-US" dirty="0"/>
              <a:t>48KHz</a:t>
            </a:r>
            <a:r>
              <a:rPr lang="he-IL" dirty="0"/>
              <a:t>, יותר מקצב הדגימה המינימלי </a:t>
            </a:r>
            <a:r>
              <a:rPr lang="en-US" dirty="0"/>
              <a:t>20KHz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36A2EC-FE27-5203-C5A0-964938237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2200" y="-344904"/>
            <a:ext cx="2318657" cy="2318657"/>
          </a:xfrm>
          <a:prstGeom prst="rect">
            <a:avLst/>
          </a:prstGeom>
        </p:spPr>
      </p:pic>
      <p:pic>
        <p:nvPicPr>
          <p:cNvPr id="3" name="clicks_cropped">
            <a:hlinkClick r:id="" action="ppaction://media"/>
            <a:extLst>
              <a:ext uri="{FF2B5EF4-FFF2-40B4-BE49-F238E27FC236}">
                <a16:creationId xmlns:a16="http://schemas.microsoft.com/office/drawing/2014/main" id="{B1C0C24E-20CA-89DF-E8FD-CA20240326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974702" y="394963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42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F7E66-55A3-ED58-E3D3-3C2808734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6E7CE8-B342-E1F6-72B2-6ED6A1E2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/>
          </a:bodyPr>
          <a:lstStyle/>
          <a:p>
            <a:pPr algn="ctr"/>
            <a:r>
              <a:rPr lang="he-IL" sz="3200" dirty="0"/>
              <a:t>התאמת קצב השיר למדדים הפיזיולוגיים בגוף 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782162-487C-9BC4-F63A-383D44EA13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CB90D93-5305-5738-387A-91CBFEE17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A23556-A4AB-D762-1953-8279DD2EA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8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3208D3B-12DA-783D-2ACA-4F2799063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787" y="1691832"/>
            <a:ext cx="10515600" cy="4351338"/>
          </a:xfrm>
        </p:spPr>
        <p:txBody>
          <a:bodyPr>
            <a:normAutofit/>
          </a:bodyPr>
          <a:lstStyle/>
          <a:p>
            <a:pPr algn="r" rtl="1"/>
            <a:r>
              <a:rPr lang="he-IL" sz="2000" b="1" u="sng" dirty="0"/>
              <a:t>גרף האצה + קצבים</a:t>
            </a:r>
          </a:p>
          <a:p>
            <a:pPr algn="r" rtl="1"/>
            <a:r>
              <a:rPr lang="he-IL" sz="2000" b="1" dirty="0">
                <a:highlight>
                  <a:srgbClr val="00FF00"/>
                </a:highlight>
              </a:rPr>
              <a:t>דרישה כמותית 2:</a:t>
            </a:r>
            <a:r>
              <a:rPr lang="he-IL" sz="2000" dirty="0"/>
              <a:t> קצב השיר 122 פעמות לדקה, קצב הריצה נע בין 120 ל128 פעמות בדקה, פחות מ5% ביחס הקצבים.</a:t>
            </a:r>
          </a:p>
          <a:p>
            <a:pPr algn="r" rtl="1"/>
            <a:r>
              <a:rPr lang="he-IL" sz="2000" b="1" dirty="0">
                <a:highlight>
                  <a:srgbClr val="00FF00"/>
                </a:highlight>
              </a:rPr>
              <a:t>דרישה כמותית 3: </a:t>
            </a:r>
            <a:r>
              <a:rPr lang="he-IL" sz="2000" dirty="0"/>
              <a:t>ההאצה נעה בין </a:t>
            </a:r>
          </a:p>
          <a:p>
            <a:pPr marL="0" indent="0" algn="r" rtl="1">
              <a:buNone/>
            </a:pPr>
            <a:r>
              <a:rPr lang="en-US" sz="2000" dirty="0"/>
              <a:t>0.93&lt;r&lt;1.02</a:t>
            </a:r>
            <a:endParaRPr lang="he-IL" sz="2000" dirty="0"/>
          </a:p>
          <a:p>
            <a:endParaRPr lang="en-US" sz="2000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8DBAE4-0A5D-99A4-78C2-071798854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-344904"/>
            <a:ext cx="2318657" cy="23186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A05DB5-FC4F-AD5D-4092-EA86D8860D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3787" y="2502785"/>
            <a:ext cx="6664116" cy="399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400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9C72D-2B50-8A2D-B505-574F28B33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A8479A-A757-BFA9-505A-621017C35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/>
          </a:bodyPr>
          <a:lstStyle/>
          <a:p>
            <a:pPr algn="ctr"/>
            <a:r>
              <a:rPr lang="he-IL" sz="3200" dirty="0"/>
              <a:t>התאמת קצב השיר למדדים הפיזיולוגיים בגוף 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3528BC-4C92-8F3A-5842-3037189AE2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117B839-45FC-00DB-1261-58FA469D0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5C5918-FA2F-97F4-3B4B-47B784056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9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29C79E1-60BC-1C18-CC4B-7D795019E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6417"/>
            <a:ext cx="10515600" cy="4351338"/>
          </a:xfrm>
        </p:spPr>
        <p:txBody>
          <a:bodyPr/>
          <a:lstStyle/>
          <a:p>
            <a:pPr algn="r" rtl="1"/>
            <a:r>
              <a:rPr lang="he-IL" sz="1800" b="1" dirty="0"/>
              <a:t>טבלת פעמות</a:t>
            </a:r>
          </a:p>
          <a:p>
            <a:pPr algn="r" rtl="1"/>
            <a:r>
              <a:rPr lang="he-IL" sz="1800" b="1" dirty="0">
                <a:highlight>
                  <a:srgbClr val="00FF00"/>
                </a:highlight>
              </a:rPr>
              <a:t>דרישה כמותית 4: </a:t>
            </a:r>
            <a:r>
              <a:rPr lang="he-IL" sz="1800" b="1" dirty="0"/>
              <a:t>  </a:t>
            </a:r>
            <a:r>
              <a:rPr lang="he-IL" sz="1800" dirty="0"/>
              <a:t>הפרש פעמות ממוצע של 31 מילישניות בריצה קבועה, ו45 מילישניות בריצה עם קצב משתנה.</a:t>
            </a:r>
            <a:endParaRPr lang="en-US" sz="18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6660D7-F162-4EEE-0038-433ABCB55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-344904"/>
            <a:ext cx="2318657" cy="23186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F128DF-88FC-E84B-8DC9-C2FE41280D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141" y="2370136"/>
            <a:ext cx="3759604" cy="43513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03AF53C-C2FF-3654-F770-8DAFBF32C0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29313"/>
            <a:ext cx="3825407" cy="43262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E5AEA6-63B0-910F-B5B9-DDF393C8C6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381" y="4164194"/>
            <a:ext cx="2908722" cy="38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770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2594F-AE0E-55A2-C63B-EE67E1D64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899894-1200-1046-2FF5-1C7BD2A8A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475" y="356745"/>
            <a:ext cx="6702725" cy="575154"/>
          </a:xfrm>
        </p:spPr>
        <p:txBody>
          <a:bodyPr>
            <a:normAutofit/>
          </a:bodyPr>
          <a:lstStyle/>
          <a:p>
            <a:pPr algn="ctr"/>
            <a:r>
              <a:rPr lang="he-IL" sz="3200" dirty="0"/>
              <a:t>התאמת קצב השיר למדדים הפיזיולוגיים בגוף 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661EFF-2844-572F-2112-3AB3077F3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4F921EF-461B-C212-8ADF-3274BF4CE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493243-F7A0-AC72-A295-BEBEB2E9B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10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B0393F-478E-C656-20C3-F0A365817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-344904"/>
            <a:ext cx="2318657" cy="2318657"/>
          </a:xfrm>
          <a:prstGeom prst="rect">
            <a:avLst/>
          </a:prstGeom>
        </p:spPr>
      </p:pic>
      <p:sp>
        <p:nvSpPr>
          <p:cNvPr id="17" name="Rectangle 1">
            <a:extLst>
              <a:ext uri="{FF2B5EF4-FFF2-40B4-BE49-F238E27FC236}">
                <a16:creationId xmlns:a16="http://schemas.microsoft.com/office/drawing/2014/main" id="{6BA3EE25-0EB4-9EB9-05D9-77576D6E9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20" y="1338263"/>
            <a:ext cx="72668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L"/>
          </a:p>
        </p:txBody>
      </p:sp>
      <p:graphicFrame>
        <p:nvGraphicFramePr>
          <p:cNvPr id="43" name="Content Placeholder 42">
            <a:extLst>
              <a:ext uri="{FF2B5EF4-FFF2-40B4-BE49-F238E27FC236}">
                <a16:creationId xmlns:a16="http://schemas.microsoft.com/office/drawing/2014/main" id="{D060C1B5-C415-2BA8-079E-04A60CF5C0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0600591"/>
              </p:ext>
            </p:extLst>
          </p:nvPr>
        </p:nvGraphicFramePr>
        <p:xfrm>
          <a:off x="354968" y="1327978"/>
          <a:ext cx="11340482" cy="5520294"/>
        </p:xfrm>
        <a:graphic>
          <a:graphicData uri="http://schemas.openxmlformats.org/drawingml/2006/table">
            <a:tbl>
              <a:tblPr/>
              <a:tblGrid>
                <a:gridCol w="679918">
                  <a:extLst>
                    <a:ext uri="{9D8B030D-6E8A-4147-A177-3AD203B41FA5}">
                      <a16:colId xmlns:a16="http://schemas.microsoft.com/office/drawing/2014/main" val="1985232570"/>
                    </a:ext>
                  </a:extLst>
                </a:gridCol>
                <a:gridCol w="2039756">
                  <a:extLst>
                    <a:ext uri="{9D8B030D-6E8A-4147-A177-3AD203B41FA5}">
                      <a16:colId xmlns:a16="http://schemas.microsoft.com/office/drawing/2014/main" val="1527916881"/>
                    </a:ext>
                  </a:extLst>
                </a:gridCol>
                <a:gridCol w="4291986">
                  <a:extLst>
                    <a:ext uri="{9D8B030D-6E8A-4147-A177-3AD203B41FA5}">
                      <a16:colId xmlns:a16="http://schemas.microsoft.com/office/drawing/2014/main" val="2889261313"/>
                    </a:ext>
                  </a:extLst>
                </a:gridCol>
                <a:gridCol w="976336">
                  <a:extLst>
                    <a:ext uri="{9D8B030D-6E8A-4147-A177-3AD203B41FA5}">
                      <a16:colId xmlns:a16="http://schemas.microsoft.com/office/drawing/2014/main" val="2046303703"/>
                    </a:ext>
                  </a:extLst>
                </a:gridCol>
                <a:gridCol w="1312730">
                  <a:extLst>
                    <a:ext uri="{9D8B030D-6E8A-4147-A177-3AD203B41FA5}">
                      <a16:colId xmlns:a16="http://schemas.microsoft.com/office/drawing/2014/main" val="3226400495"/>
                    </a:ext>
                  </a:extLst>
                </a:gridCol>
                <a:gridCol w="2039756">
                  <a:extLst>
                    <a:ext uri="{9D8B030D-6E8A-4147-A177-3AD203B41FA5}">
                      <a16:colId xmlns:a16="http://schemas.microsoft.com/office/drawing/2014/main" val="3307748197"/>
                    </a:ext>
                  </a:extLst>
                </a:gridCol>
              </a:tblGrid>
              <a:tr h="198695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Milestone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Description (2–3 lines)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Planned Date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Actual Execution Date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Notes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945870"/>
                  </a:ext>
                </a:extLst>
              </a:tr>
              <a:tr h="462676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Literature review &amp; system planning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beat tracking, tempo estimation, and time-scaling methods. Define system architecture and datasets.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12.11.2025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473368"/>
                  </a:ext>
                </a:extLst>
              </a:tr>
              <a:tr h="332629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BPM &amp; beat detection (Librosa)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Implement BPM and beat extraction using Librosa’s tempo/beat APIs. Test with synthetic clips.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26.11.2025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_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086468"/>
                  </a:ext>
                </a:extLst>
              </a:tr>
              <a:tr h="332629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BPM-based preprocessing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Build preprocessing module that adjusts playback rate based on BPM difference between two sources.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10.12.2025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Done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_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565433"/>
                  </a:ext>
                </a:extLst>
              </a:tr>
              <a:tr h="332629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Phase-shift preprocessing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Extend preprocessing to estimate and correct phase offset between tracks.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24.12.2025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Done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_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234932"/>
                  </a:ext>
                </a:extLst>
              </a:tr>
              <a:tr h="459838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Preprocessor live adaptation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Enable dynamic BPM tracking and automatic adaptation for changing runner/music inputs.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7.1.2026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-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 decided to focus on the DSP part of the project 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196775"/>
                  </a:ext>
                </a:extLst>
              </a:tr>
              <a:tr h="394552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Progress Presentation Submission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Present BPM and phase-alignment results, compare methods, and verify average residual phase offset &lt; 50 ms.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Feb–Mar 2026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23.02.2026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9324"/>
                  </a:ext>
                </a:extLst>
              </a:tr>
              <a:tr h="459838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Spectrogram representation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Find the best window type and size then compute STFT matrices with it 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20.3.2026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New milestone, replacing live adaptation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75271"/>
                  </a:ext>
                </a:extLst>
              </a:tr>
              <a:tr h="394552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HPS (Harmonic–Percussive Separation) module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Implement HPS to isolate rhythmic and harmonic content before TSM.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4.4.2026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58235"/>
                  </a:ext>
                </a:extLst>
              </a:tr>
              <a:tr h="332629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WSOLA implementation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Develop and test WSOLA algorithm for time-domain TSM across 0.8×–1.5× ratios.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20.4.2026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665861"/>
                  </a:ext>
                </a:extLst>
              </a:tr>
              <a:tr h="332629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Poster Submission and finishing the work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Prepare results, graphs, and comparisons for poster submission.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24.5.2026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31628"/>
                  </a:ext>
                </a:extLst>
              </a:tr>
              <a:tr h="332629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Vocoder implementation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Implement frequency-domain TSM and compare quality/ratio accuracy vs. WSOLA.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14.6.2026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951522"/>
                  </a:ext>
                </a:extLst>
              </a:tr>
              <a:tr h="198695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System integration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Combine all modules into a unified real-time pipeline.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25.6.2026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202496"/>
                  </a:ext>
                </a:extLst>
              </a:tr>
              <a:tr h="332629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Performance &amp; latency testing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Measure system latency, audio quality, and ratio stability under different conditions.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4.7.2026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968900"/>
                  </a:ext>
                </a:extLst>
              </a:tr>
              <a:tr h="263981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Optional – hardware input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Integrate accelerometer or external BPM source 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18.7.2026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74308"/>
                  </a:ext>
                </a:extLst>
              </a:tr>
              <a:tr h="329268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Final deliverables submission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Submit final report, demo, and all evaluation visuals.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Jul–Aug 2026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en-I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2315" marR="2315" marT="231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635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253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9190</TotalTime>
  <Words>1051</Words>
  <Application>Microsoft Office PowerPoint</Application>
  <PresentationFormat>Widescreen</PresentationFormat>
  <Paragraphs>191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התאמת קצב השיר למדדים הפיזיולוגיים בגוף </vt:lpstr>
      <vt:lpstr>התאמת קצב השיר למדדים הפיזיולוגיים בגוף </vt:lpstr>
      <vt:lpstr>התאמת קצב השיר למדדים הפיזיולוגיים בגוף </vt:lpstr>
      <vt:lpstr>התאמת קצב השיר למדדים הפיזיולוגיים בגוף </vt:lpstr>
      <vt:lpstr>התאמת קצב השיר למדדים הפיזיולוגיים בגוף </vt:lpstr>
      <vt:lpstr>התאמת קצב השיר למדדים הפיזיולוגיים בגוף </vt:lpstr>
      <vt:lpstr>התאמת קצב השיר למדדים הפיזיולוגיים בגוף </vt:lpstr>
      <vt:lpstr>התאמת קצב השיר למדדים הפיזיולוגיים בגוף </vt:lpstr>
      <vt:lpstr>התאמת קצב השיר למדדים הפיזיולוגיים בגוף </vt:lpstr>
      <vt:lpstr>התאמת קצב השיר למדדים הפיזיולוגיים בגוף </vt:lpstr>
    </vt:vector>
  </TitlesOfParts>
  <Company>TAU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Fainguelernt</dc:creator>
  <cp:lastModifiedBy>Matan Granot</cp:lastModifiedBy>
  <cp:revision>17</cp:revision>
  <dcterms:created xsi:type="dcterms:W3CDTF">2021-12-15T06:30:50Z</dcterms:created>
  <dcterms:modified xsi:type="dcterms:W3CDTF">2026-02-20T05:08:31Z</dcterms:modified>
</cp:coreProperties>
</file>