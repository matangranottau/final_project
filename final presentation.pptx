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74" r:id="rId6"/>
    <p:sldId id="260" r:id="rId7"/>
    <p:sldId id="261" r:id="rId8"/>
    <p:sldId id="273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270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97663B-01EE-4D27-B6B8-967932AFFB1A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A04E83-3A76-47C2-B23E-88D5C2E17E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4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418D1-F151-4A1A-AFA6-1FCB5125A92E}" type="datetime1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005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7F67C-1AAC-41A5-BA08-7B0723E42167}" type="datetime1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722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5C26D-52F0-48CD-A26B-03EAFD2B9DF3}" type="datetime1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801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BBECA-3C0A-4CD9-9812-4FBF50F0829F}" type="datetime1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314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F0E8-360B-4BB4-8873-CE1C24987C49}" type="datetime1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10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9C237-DA93-4873-9F13-2D421E4D5784}" type="datetime1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734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7881F-D2DD-4759-A335-6ECF54EA6174}" type="datetime1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421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FE89D-0E68-4F88-8280-A11E17E07B1E}" type="datetime1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60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40482-3831-4044-A267-EC94C1533077}" type="datetime1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252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2360F-72F0-40E4-9497-E500D92B1CFF}" type="datetime1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737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16CB8-DFD9-47B7-B7FB-CD991A84E186}" type="datetime1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61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48A5E2-79BB-466B-93AD-FE62946A96F1}" type="datetime1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4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microsoft.com/office/2007/relationships/media" Target="../media/media2.wav"/><Relationship Id="rId7" Type="http://schemas.openxmlformats.org/officeDocument/2006/relationships/image" Target="../media/image2.png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openxmlformats.org/officeDocument/2006/relationships/image" Target="../media/image1.jpeg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2.wav"/><Relationship Id="rId9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1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519B56-7D94-149F-64EB-4B81CF669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472FEE4-DBB2-61F0-E4CE-80A1B25CD3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472" y="1817843"/>
            <a:ext cx="9945055" cy="3222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483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6A4A8-3CE9-6CF1-FEA7-8595C4466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448CA64-4886-6066-E55A-3E10B3ECA21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90FED22-F67A-DD4F-253A-AF7DF76CA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013805-1AAB-51F9-6F3F-C80D879D2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2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4A8669-9609-DE8E-62B0-4E6A1BAB0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9D2F261-432F-110E-FCF1-C92D2DD7C6C7}"/>
              </a:ext>
            </a:extLst>
          </p:cNvPr>
          <p:cNvSpPr/>
          <p:nvPr/>
        </p:nvSpPr>
        <p:spPr>
          <a:xfrm>
            <a:off x="3356033" y="1287825"/>
            <a:ext cx="4575676" cy="83099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IL" sz="4800" b="1" dirty="0"/>
              <a:t>Project Overview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8CA23A-DF6F-F4D1-B77B-EFD07159C7A0}"/>
              </a:ext>
            </a:extLst>
          </p:cNvPr>
          <p:cNvSpPr txBox="1"/>
          <p:nvPr/>
        </p:nvSpPr>
        <p:spPr>
          <a:xfrm>
            <a:off x="1306286" y="2690336"/>
            <a:ext cx="813629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•</a:t>
            </a:r>
            <a:r>
              <a:rPr lang="en-IL" sz="2400" dirty="0" err="1"/>
              <a:t>SyncRun</a:t>
            </a:r>
            <a:r>
              <a:rPr lang="en-IL" sz="2400" dirty="0"/>
              <a:t> dynamically adjusts the playback rate of a rhythmic music track to seamlessly match a runner's offline step rhythm.</a:t>
            </a:r>
          </a:p>
          <a:p>
            <a:endParaRPr lang="he-IL" sz="2400" dirty="0"/>
          </a:p>
          <a:p>
            <a:r>
              <a:rPr lang="en-IL" sz="2400" dirty="0"/>
              <a:t>•It uses advanced time-stretch algorithms to synchronize musical beats with physical steps in real-time, without altering the original pitch.</a:t>
            </a:r>
          </a:p>
          <a:p>
            <a:endParaRPr lang="he-IL" dirty="0"/>
          </a:p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107387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BD955-7EC6-E0E9-0E17-3E1838C7B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F20CB1-3B37-E6DF-AFF5-E4D948A5BD9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8C774E1-5C2A-A1DF-7AB0-6DACBF3AD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5ED4C2-536E-7CF4-4925-A676B29C6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2C0015-DA2B-A0E9-A021-927D4015A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61C3061-9A41-3430-EADC-4EAF9BFA8EB1}"/>
              </a:ext>
            </a:extLst>
          </p:cNvPr>
          <p:cNvSpPr/>
          <p:nvPr/>
        </p:nvSpPr>
        <p:spPr>
          <a:xfrm>
            <a:off x="3041544" y="1185188"/>
            <a:ext cx="5449312" cy="166199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800" b="1" dirty="0"/>
              <a:t>Motivation</a:t>
            </a:r>
            <a:endParaRPr lang="en-IL" sz="4800" b="1" dirty="0"/>
          </a:p>
          <a:p>
            <a:pPr algn="ctr"/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DDE7C23-6417-88E2-49DB-15B6D5E40B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445" y="2297167"/>
            <a:ext cx="8855207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799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5F128-1493-D740-D8FF-DB01F53A1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C94BA8-0039-9FDE-4A4E-94B4BD10F6C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5E6915B-F99F-1CEC-0334-68CD266A4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710B3E-05AA-2639-2A9D-E2D5A5C00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2A6C0A-D745-FDD2-DC1D-B73F93D5B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7AF50B9-BD02-040A-AB96-07D41FE1AD6C}"/>
              </a:ext>
            </a:extLst>
          </p:cNvPr>
          <p:cNvSpPr/>
          <p:nvPr/>
        </p:nvSpPr>
        <p:spPr>
          <a:xfrm>
            <a:off x="3021224" y="820521"/>
            <a:ext cx="5449312" cy="166199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800" b="1" dirty="0"/>
              <a:t>Problems</a:t>
            </a:r>
            <a:endParaRPr lang="en-IL" sz="4800" b="1" dirty="0"/>
          </a:p>
          <a:p>
            <a:pPr algn="ctr"/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0102784-079A-0C25-4508-9CE65E8E4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276" y="1884219"/>
            <a:ext cx="8855207" cy="415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52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35840-CB28-9CBA-B517-E649F0AC8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9396BBE-F743-EA81-E96C-24EEFC10AB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997848B-E5A1-AD79-137B-66262BE88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7D1AE8-92F3-8F15-2163-A06486B49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5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350DFB-E5D8-6707-C781-E95E66198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D050805-31FC-9865-286B-7A2CEF92C06F}"/>
              </a:ext>
            </a:extLst>
          </p:cNvPr>
          <p:cNvSpPr/>
          <p:nvPr/>
        </p:nvSpPr>
        <p:spPr>
          <a:xfrm>
            <a:off x="3021224" y="820521"/>
            <a:ext cx="5449312" cy="166199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800" b="1"/>
              <a:t>Block </a:t>
            </a:r>
            <a:r>
              <a:rPr lang="en-US" sz="4800" b="1" dirty="0"/>
              <a:t>Diagram</a:t>
            </a:r>
            <a:endParaRPr lang="en-IL" sz="4800" b="1" dirty="0"/>
          </a:p>
          <a:p>
            <a:pPr algn="ctr"/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20508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FECC3-4F0F-C203-560D-010E8CF6D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FFE8D95-87D2-3689-6E50-BA1F5B45849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EFBAFFF-15EB-524E-C299-80165A1B4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4D8BC1-970C-F1FB-1607-C4FFDCEB3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6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119E89-709A-CB27-5E44-AE1FA7B70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2AC59D-6168-E32C-CB61-01EC67E23B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902"/>
          <a:stretch>
            <a:fillRect/>
          </a:stretch>
        </p:blipFill>
        <p:spPr>
          <a:xfrm>
            <a:off x="1128640" y="1972132"/>
            <a:ext cx="3788800" cy="409229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0BA648D-CE24-E80B-5AAC-58DF4E9A9673}"/>
              </a:ext>
            </a:extLst>
          </p:cNvPr>
          <p:cNvSpPr/>
          <p:nvPr/>
        </p:nvSpPr>
        <p:spPr>
          <a:xfrm>
            <a:off x="2063360" y="793573"/>
            <a:ext cx="7811617" cy="267765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IL" sz="4800" b="1" dirty="0"/>
              <a:t>Click Generation &amp; Alignment</a:t>
            </a:r>
          </a:p>
          <a:p>
            <a:br>
              <a:rPr lang="en-IL" dirty="0"/>
            </a:br>
            <a:endParaRPr lang="en-IL" sz="4800" b="1" dirty="0"/>
          </a:p>
          <a:p>
            <a:pPr algn="ctr"/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0D2478-51A0-6C1B-6608-DF0C92FF2E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3781" y="1829887"/>
            <a:ext cx="5605916" cy="423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35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1636F-0A4E-E463-A24A-3F2B6F84C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AC66B59-D3F1-B85A-6E85-CA758930F30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CBC2B27-6F8E-1E1A-07D4-0E57D67EF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AF7BB8-B4FF-B194-75DD-9719A9A95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7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FBD0D2-99C2-74F7-8646-C077237169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C58B3F4-23CD-B353-126C-8091086D46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0080" y="4471349"/>
            <a:ext cx="4759770" cy="122460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14" name="Rectangle 8">
            <a:extLst>
              <a:ext uri="{FF2B5EF4-FFF2-40B4-BE49-F238E27FC236}">
                <a16:creationId xmlns:a16="http://schemas.microsoft.com/office/drawing/2014/main" id="{7040AF4C-A0F9-E717-B4E9-C42CD6F719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L"/>
          </a:p>
        </p:txBody>
      </p:sp>
      <p:pic>
        <p:nvPicPr>
          <p:cNvPr id="2055" name="Picture 4966">
            <a:extLst>
              <a:ext uri="{FF2B5EF4-FFF2-40B4-BE49-F238E27FC236}">
                <a16:creationId xmlns:a16="http://schemas.microsoft.com/office/drawing/2014/main" id="{57F9953D-6126-616C-1DC1-8A14F66097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32175" y="9953625"/>
            <a:ext cx="180975" cy="133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9">
            <a:extLst>
              <a:ext uri="{FF2B5EF4-FFF2-40B4-BE49-F238E27FC236}">
                <a16:creationId xmlns:a16="http://schemas.microsoft.com/office/drawing/2014/main" id="{4E99B57E-8ED0-C548-12DB-C0113C767C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8488" y="2197743"/>
            <a:ext cx="7621268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IL" altLang="en-IL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The audio is first transformed from the time domain into the frequency domain. We utilize a window size of 2048 samples with a 75% overlap to ensure smooth reconstruction and phase coherence.</a:t>
            </a:r>
            <a:endParaRPr kumimoji="0" lang="en-IL" altLang="en-IL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560DD2-995C-E30B-2391-02C1F0057496}"/>
              </a:ext>
            </a:extLst>
          </p:cNvPr>
          <p:cNvSpPr/>
          <p:nvPr/>
        </p:nvSpPr>
        <p:spPr>
          <a:xfrm>
            <a:off x="838200" y="1074798"/>
            <a:ext cx="744184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</a:t>
            </a:r>
            <a:r>
              <a:rPr lang="en-IL" sz="3200" b="0" cap="none" spc="0" dirty="0" err="1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tep</a:t>
            </a:r>
            <a:r>
              <a:rPr lang="en-IL" sz="3200" b="0" cap="none" spc="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1: Short-Time Fourier Transform (STFT)</a:t>
            </a:r>
          </a:p>
        </p:txBody>
      </p:sp>
    </p:spTree>
    <p:extLst>
      <p:ext uri="{BB962C8B-B14F-4D97-AF65-F5344CB8AC3E}">
        <p14:creationId xmlns:p14="http://schemas.microsoft.com/office/powerpoint/2010/main" val="3278629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13AC6-589E-B307-9489-11DD61FCC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5D4ACE-3F08-EAB4-2A6D-B2E0E7E622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871061D-8715-D868-1887-062CA4A42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3143C3-44F1-B81B-FF1D-03AD35A71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8</a:t>
            </a:fld>
            <a:endParaRPr lang="en-US"/>
          </a:p>
        </p:txBody>
      </p:sp>
      <p:sp>
        <p:nvSpPr>
          <p:cNvPr id="14" name="Rectangle 8">
            <a:extLst>
              <a:ext uri="{FF2B5EF4-FFF2-40B4-BE49-F238E27FC236}">
                <a16:creationId xmlns:a16="http://schemas.microsoft.com/office/drawing/2014/main" id="{98EF91B2-D919-830D-D011-75102ABDA2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L"/>
          </a:p>
        </p:txBody>
      </p:sp>
      <p:pic>
        <p:nvPicPr>
          <p:cNvPr id="2055" name="Picture 4966">
            <a:extLst>
              <a:ext uri="{FF2B5EF4-FFF2-40B4-BE49-F238E27FC236}">
                <a16:creationId xmlns:a16="http://schemas.microsoft.com/office/drawing/2014/main" id="{DB2A5EA8-7E59-1770-FB09-44F8464FE6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32175" y="9953625"/>
            <a:ext cx="180975" cy="133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9B4646-3AD3-82CF-E2C2-581DF491D6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1666" y="205999"/>
            <a:ext cx="1742107" cy="174210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AB84F38-8509-CA8B-7660-EEFA40A59588}"/>
              </a:ext>
            </a:extLst>
          </p:cNvPr>
          <p:cNvSpPr/>
          <p:nvPr/>
        </p:nvSpPr>
        <p:spPr>
          <a:xfrm>
            <a:off x="700158" y="1074798"/>
            <a:ext cx="77179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</a:t>
            </a:r>
            <a:r>
              <a:rPr lang="en-IL" sz="3200" b="0" cap="none" spc="0" dirty="0" err="1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tep</a:t>
            </a:r>
            <a:r>
              <a:rPr lang="en-IL" sz="3200" b="0" cap="none" spc="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sz="3200" b="0" cap="none" spc="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r>
              <a:rPr lang="en-IL" sz="3200" b="0" cap="none" spc="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: </a:t>
            </a:r>
            <a:r>
              <a:rPr lang="en-US" sz="3200" b="0" cap="none" spc="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Harmonic – Percussive separate (HPS)</a:t>
            </a:r>
            <a:endParaRPr lang="en-IL" sz="3200" b="0" cap="none" spc="0" dirty="0">
              <a:ln w="0"/>
              <a:solidFill>
                <a:schemeClr val="accent1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2442D-5115-2864-5EF3-1659DD2711EC}"/>
              </a:ext>
            </a:extLst>
          </p:cNvPr>
          <p:cNvSpPr txBox="1"/>
          <p:nvPr/>
        </p:nvSpPr>
        <p:spPr>
          <a:xfrm>
            <a:off x="532959" y="1781468"/>
            <a:ext cx="60968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 applied median filters to separate the original audio into its sustained, pitched sounds (harmonic content) and sharp, transient drum hits (percussive content)</a:t>
            </a:r>
            <a:endParaRPr lang="en-I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AFDD88-1156-4310-5836-587D887A6C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199" y="2957408"/>
            <a:ext cx="4101321" cy="14825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D9EBD62-B3C1-3ACB-40C4-B0BF9914E9DC}"/>
              </a:ext>
            </a:extLst>
          </p:cNvPr>
          <p:cNvSpPr txBox="1"/>
          <p:nvPr/>
        </p:nvSpPr>
        <p:spPr>
          <a:xfrm>
            <a:off x="451870" y="4352600"/>
            <a:ext cx="62590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And created </a:t>
            </a:r>
            <a:r>
              <a:rPr lang="en-IL" b="1" dirty="0">
                <a:latin typeface="Arial" panose="020B0604020202020204" pitchFamily="34" charset="0"/>
                <a:cs typeface="Arial" panose="020B0604020202020204" pitchFamily="34" charset="0"/>
              </a:rPr>
              <a:t>binary masks are applied pointwise to the original complex STFT X(</a:t>
            </a:r>
            <a:r>
              <a:rPr lang="en-IL" b="1" dirty="0" err="1">
                <a:latin typeface="Arial" panose="020B0604020202020204" pitchFamily="34" charset="0"/>
                <a:cs typeface="Arial" panose="020B0604020202020204" pitchFamily="34" charset="0"/>
              </a:rPr>
              <a:t>m,k</a:t>
            </a:r>
            <a:r>
              <a:rPr lang="en-IL" b="1" dirty="0">
                <a:latin typeface="Arial" panose="020B0604020202020204" pitchFamily="34" charset="0"/>
                <a:cs typeface="Arial" panose="020B0604020202020204" pitchFamily="34" charset="0"/>
              </a:rPr>
              <a:t>) to isolate the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L" b="1" dirty="0">
                <a:latin typeface="Arial" panose="020B0604020202020204" pitchFamily="34" charset="0"/>
                <a:cs typeface="Arial" panose="020B0604020202020204" pitchFamily="34" charset="0"/>
              </a:rPr>
              <a:t>complex frequency representations of each component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7910F5-3431-B6D6-A01F-BB326183DE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1815" y="5497583"/>
            <a:ext cx="3284918" cy="104132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2A0C13A-1AA5-E122-4A6E-68E81ED71B9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8951" y="2034078"/>
            <a:ext cx="5370222" cy="371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15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53A7C-D31D-86F0-B139-8F57CC8C2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3D7FDC5-B055-2DA6-D77E-C40909BB919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B1228FC-CD13-7F0E-E774-234188124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D345BF-BB8D-7B9C-F63D-353016D65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9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7AE43F-98B6-DC53-5370-53AED5A02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A066E8-ADE5-8A17-2BAA-96E52C4D37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6883"/>
          <a:stretch>
            <a:fillRect/>
          </a:stretch>
        </p:blipFill>
        <p:spPr>
          <a:xfrm>
            <a:off x="546221" y="2100137"/>
            <a:ext cx="5102739" cy="402911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1195783-1903-6515-8E80-7E1CA9EAF4E8}"/>
              </a:ext>
            </a:extLst>
          </p:cNvPr>
          <p:cNvSpPr/>
          <p:nvPr/>
        </p:nvSpPr>
        <p:spPr>
          <a:xfrm>
            <a:off x="696668" y="1148897"/>
            <a:ext cx="266771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</a:t>
            </a:r>
            <a:r>
              <a:rPr lang="en-IL" sz="3200" b="0" cap="none" spc="0" dirty="0" err="1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tep</a:t>
            </a:r>
            <a:r>
              <a:rPr lang="en-IL" sz="3200" b="0" cap="none" spc="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sz="3200" b="0" cap="none" spc="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r>
              <a:rPr lang="en-IL" sz="3200" b="0" cap="none" spc="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: </a:t>
            </a:r>
            <a:r>
              <a:rPr lang="en-US" sz="3200" b="0" cap="none" spc="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WSOLA</a:t>
            </a:r>
            <a:endParaRPr lang="en-IL" sz="3200" b="0" cap="none" spc="0" dirty="0">
              <a:ln w="0"/>
              <a:solidFill>
                <a:schemeClr val="accent1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4A070F-5644-82DA-9E12-2B187E7831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6298" y="1476844"/>
            <a:ext cx="5715495" cy="443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097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18C74-F6A9-900D-0F8A-C597BC425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6A1CCE2-1F17-676B-3DC1-5B03E38874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23CB924-D82E-8540-F132-4971FD01F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520F8B-0ACE-8951-30B1-FF6A93DCB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10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CBBA68-A705-53FC-7C90-BF3B761D5E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727BDFC-ED5E-941A-544C-C0F3F7D8AE3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5151"/>
          <a:stretch>
            <a:fillRect/>
          </a:stretch>
        </p:blipFill>
        <p:spPr>
          <a:xfrm>
            <a:off x="450207" y="2094122"/>
            <a:ext cx="5015873" cy="390177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AD4EA2B-A742-90B6-1510-B794B84AF57B}"/>
              </a:ext>
            </a:extLst>
          </p:cNvPr>
          <p:cNvSpPr/>
          <p:nvPr/>
        </p:nvSpPr>
        <p:spPr>
          <a:xfrm>
            <a:off x="433472" y="1148897"/>
            <a:ext cx="398756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</a:t>
            </a:r>
            <a:r>
              <a:rPr lang="en-IL" sz="3200" b="0" cap="none" spc="0" dirty="0" err="1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tep</a:t>
            </a:r>
            <a:r>
              <a:rPr lang="en-IL" sz="3200" b="0" cap="none" spc="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sz="3200" b="0" cap="none" spc="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 : Phase Vocoder</a:t>
            </a:r>
            <a:endParaRPr lang="en-IL" sz="3200" b="0" cap="none" spc="0" dirty="0">
              <a:ln w="0"/>
              <a:solidFill>
                <a:schemeClr val="accent1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B44816-D724-FE5A-2176-EE85D45C76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3497" y="1441284"/>
            <a:ext cx="5754206" cy="4291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54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A59A7-238A-06DB-CCE5-46C984D8A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46805D-43F0-7CE7-A0EA-8915BF7E4DD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5DE6ADC-9FF7-32C5-1FF1-640E5EC37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88240B-4D1B-91D5-91FE-F05624291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11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D24869-DBD9-76CC-AA3B-7E610648B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C87F4F3-38EB-0031-C0C8-2BB37FD1DFBD}"/>
              </a:ext>
            </a:extLst>
          </p:cNvPr>
          <p:cNvSpPr/>
          <p:nvPr/>
        </p:nvSpPr>
        <p:spPr>
          <a:xfrm>
            <a:off x="463428" y="1118102"/>
            <a:ext cx="535127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</a:t>
            </a:r>
            <a:r>
              <a:rPr lang="en-IL" sz="3200" b="0" cap="none" spc="0" dirty="0" err="1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tep</a:t>
            </a:r>
            <a:r>
              <a:rPr lang="en-IL" sz="3200" b="0" cap="none" spc="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sz="320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r>
              <a:rPr lang="en-US" sz="3200" b="0" cap="none" spc="0" dirty="0">
                <a:ln w="0"/>
                <a:solidFill>
                  <a:schemeClr val="accent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: ISTFT &amp; Reconstruction</a:t>
            </a:r>
            <a:endParaRPr lang="en-IL" sz="3200" b="0" cap="none" spc="0" dirty="0">
              <a:ln w="0"/>
              <a:solidFill>
                <a:schemeClr val="accent1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3E0ADE-A065-CD2B-1E59-1A6D33135C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8" y="2032200"/>
            <a:ext cx="5181592" cy="38061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34BEE49-5D5D-237B-EF20-1EB29B9A8D0E}"/>
              </a:ext>
            </a:extLst>
          </p:cNvPr>
          <p:cNvSpPr txBox="1"/>
          <p:nvPr/>
        </p:nvSpPr>
        <p:spPr>
          <a:xfrm>
            <a:off x="643813" y="2312761"/>
            <a:ext cx="458133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fontAlgn="base"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IL" b="1" dirty="0">
                <a:latin typeface="Arial" panose="020B0604020202020204" pitchFamily="34" charset="0"/>
                <a:cs typeface="Arial" panose="020B0604020202020204" pitchFamily="34" charset="0"/>
              </a:rPr>
              <a:t>he modified harmonic and percussive matrices are inverted back to the time domain.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fontAlgn="base"/>
            <a:endParaRPr lang="en-I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fontAlgn="base">
              <a:buFont typeface="Arial" panose="020B0604020202020204" pitchFamily="34" charset="0"/>
              <a:buChar char="•"/>
            </a:pPr>
            <a:r>
              <a:rPr lang="en-IL" b="1" dirty="0">
                <a:latin typeface="Arial" panose="020B0604020202020204" pitchFamily="34" charset="0"/>
                <a:cs typeface="Arial" panose="020B0604020202020204" pitchFamily="34" charset="0"/>
              </a:rPr>
              <a:t>The algorithm dynamically trims all components to the exact same minimum length.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fontAlgn="base">
              <a:buFont typeface="Arial" panose="020B0604020202020204" pitchFamily="34" charset="0"/>
              <a:buChar char="•"/>
            </a:pP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IL" b="1" dirty="0">
                <a:latin typeface="Arial" panose="020B0604020202020204" pitchFamily="34" charset="0"/>
                <a:cs typeface="Arial" panose="020B0604020202020204" pitchFamily="34" charset="0"/>
              </a:rPr>
              <a:t>The tracks are aggregated via superposition into a single, synchronized,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L" b="1" dirty="0">
                <a:latin typeface="Arial" panose="020B0604020202020204" pitchFamily="34" charset="0"/>
                <a:cs typeface="Arial" panose="020B0604020202020204" pitchFamily="34" charset="0"/>
              </a:rPr>
              <a:t>output song.</a:t>
            </a:r>
          </a:p>
          <a:p>
            <a:pPr lvl="0" fontAlgn="base"/>
            <a:endParaRPr lang="en-IL" dirty="0"/>
          </a:p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318562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28B4F-55F3-375E-F5C9-AB02D38AD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3A41021-20A8-BCC2-1E18-4F8BF65C53C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D73E610-B186-48BF-2244-A4871C7CA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3EE93A-6BB0-36E0-D1F6-EBFAF67EE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12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F42BB5-530F-C5FF-3973-484F1E164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F48679-9AFC-742C-02FA-C6BB1C8891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59" y="1151891"/>
            <a:ext cx="9083827" cy="4778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0007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709B-C880-8CFC-07C6-0A096CA7C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EA3E54-CA1C-116D-6991-F2CBAC2F62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AA3691BA-5559-AE98-2013-4F9A85AA3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D5C036-887D-60AA-897F-BB6F75C06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13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E5F61C-B049-11E9-F028-C7FE1D621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542EB09-0912-1486-4C2B-4467DE2A6B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419" y="1445742"/>
            <a:ext cx="9805161" cy="3861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7399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F12FE-88FE-8904-34DF-E8B72AF7E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CBAABF-E489-C05B-51BE-36772461DFE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4B76E6A-FF54-9CA0-58FB-C05C57BCF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8761B-2744-50DE-6DC2-DC6343AA0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14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E5DFF3-560A-D50D-A98B-790D10C948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BAA809B-C3B4-E57D-4726-AB3E5C76F8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121" y="1592008"/>
            <a:ext cx="9613233" cy="4112613"/>
          </a:xfrm>
          <a:prstGeom prst="rect">
            <a:avLst/>
          </a:prstGeom>
        </p:spPr>
      </p:pic>
      <p:pic>
        <p:nvPicPr>
          <p:cNvPr id="5" name="Speed-down example">
            <a:hlinkClick r:id="" action="ppaction://media"/>
            <a:extLst>
              <a:ext uri="{FF2B5EF4-FFF2-40B4-BE49-F238E27FC236}">
                <a16:creationId xmlns:a16="http://schemas.microsoft.com/office/drawing/2014/main" id="{80C03214-8397-D66F-CE55-18FA974809A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2427190" y="4705415"/>
            <a:ext cx="487363" cy="487363"/>
          </a:xfrm>
          <a:prstGeom prst="rect">
            <a:avLst/>
          </a:prstGeom>
        </p:spPr>
      </p:pic>
      <p:pic>
        <p:nvPicPr>
          <p:cNvPr id="11" name="Speed-up example">
            <a:hlinkClick r:id="" action="ppaction://media"/>
            <a:extLst>
              <a:ext uri="{FF2B5EF4-FFF2-40B4-BE49-F238E27FC236}">
                <a16:creationId xmlns:a16="http://schemas.microsoft.com/office/drawing/2014/main" id="{95353153-192E-3AB6-3958-355EBD51988D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2427189" y="3315154"/>
            <a:ext cx="487363" cy="487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446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862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30166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E63B1-7DD6-0817-5240-1344F56D7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342B5F5-FE09-DCF5-3B3A-8F41033F94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5C6D960-402B-3627-DFE4-259E4FADF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44E843-3E65-B3B9-6AD9-292DB2A0C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15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22FAEB-2570-0430-3D03-1A61A9F34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C85F115-06B0-695A-9CFB-84A720F50F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112" y="1094422"/>
            <a:ext cx="9433471" cy="526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4736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952FF-B2BE-79BF-9C24-924E4FA9B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9E37A9D-52DE-B700-7B44-48155BAB6E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2BDBC48-EED1-8DFC-DF2A-3A0054FFE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A8549C-A0CD-F01B-AD8B-0D840AEAF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16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D994B-5627-9EED-AB3B-CD8E0E2DD3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2D4632-93EC-AB55-4CCE-0D99A47DA64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285" y="3863856"/>
            <a:ext cx="5542484" cy="249249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AE97FD7-E38F-FD62-B54D-068F50593040}"/>
              </a:ext>
            </a:extLst>
          </p:cNvPr>
          <p:cNvSpPr/>
          <p:nvPr/>
        </p:nvSpPr>
        <p:spPr>
          <a:xfrm>
            <a:off x="758948" y="1157196"/>
            <a:ext cx="613943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Field Testing The App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164DA-0BE8-D735-C35D-BC792F2FB43F}"/>
              </a:ext>
            </a:extLst>
          </p:cNvPr>
          <p:cNvSpPr txBox="1"/>
          <p:nvPr/>
        </p:nvSpPr>
        <p:spPr>
          <a:xfrm>
            <a:off x="762059" y="2154862"/>
            <a:ext cx="61394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b="1" dirty="0"/>
              <a:t>We transitioned from synthetic stochastic models to live field testing.</a:t>
            </a:r>
            <a:endParaRPr lang="en-US" b="1" dirty="0"/>
          </a:p>
          <a:p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5B901D-1423-C25C-B4D9-206532D7D399}"/>
              </a:ext>
            </a:extLst>
          </p:cNvPr>
          <p:cNvSpPr txBox="1"/>
          <p:nvPr/>
        </p:nvSpPr>
        <p:spPr>
          <a:xfrm>
            <a:off x="3387119" y="3410477"/>
            <a:ext cx="541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Example for 165 cm running in 11 km\h</a:t>
            </a:r>
            <a:endParaRPr lang="en-IL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49510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3A799-07E7-6E8F-E475-C4F5DD0A7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AA8925C-2441-86C9-2FF4-681EA979EAB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A131C7B-896B-7EDE-99D3-068EC420D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C99D13-9713-DFCF-9849-FDE289016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17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4E6E68-816F-18F1-F804-832D935B3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F2A44AB-9039-2CFE-DE4A-E16BDF83CFA0}"/>
              </a:ext>
            </a:extLst>
          </p:cNvPr>
          <p:cNvSpPr/>
          <p:nvPr/>
        </p:nvSpPr>
        <p:spPr>
          <a:xfrm>
            <a:off x="972547" y="1121737"/>
            <a:ext cx="370511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IL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Future 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6E309F-9080-0031-9831-0833EBDF249E}"/>
              </a:ext>
            </a:extLst>
          </p:cNvPr>
          <p:cNvSpPr txBox="1"/>
          <p:nvPr/>
        </p:nvSpPr>
        <p:spPr>
          <a:xfrm>
            <a:off x="970280" y="2712720"/>
            <a:ext cx="7640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L" b="1" dirty="0">
                <a:latin typeface="Arial" panose="020B0604020202020204" pitchFamily="34" charset="0"/>
                <a:cs typeface="Arial" panose="020B0604020202020204" pitchFamily="34" charset="0"/>
              </a:rPr>
              <a:t>Transition to real-time, adaptive tempo adjustments using live biometric feedback from smartwatches, accelerometers, and barometers.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L" b="1" dirty="0">
                <a:latin typeface="Arial" panose="020B0604020202020204" pitchFamily="34" charset="0"/>
                <a:cs typeface="Arial" panose="020B0604020202020204" pitchFamily="34" charset="0"/>
              </a:rPr>
              <a:t>Shift processing directly to the mobile device and integrate with commercial platforms like Spotify to synchronize personalized playlists on the fly.</a:t>
            </a:r>
          </a:p>
        </p:txBody>
      </p:sp>
    </p:spTree>
    <p:extLst>
      <p:ext uri="{BB962C8B-B14F-4D97-AF65-F5344CB8AC3E}">
        <p14:creationId xmlns:p14="http://schemas.microsoft.com/office/powerpoint/2010/main" val="21762111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0AED4-5413-E7EC-66EB-0CB7B1667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AFD2B46-A7FD-D4AA-BFE9-FF21E93127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9" y="273545"/>
            <a:ext cx="2925420" cy="666735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9DE86F-9FC4-41A6-0E24-13368575F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52739-273F-4728-8B1A-480EEBF683AC}" type="datetime1">
              <a:rPr lang="en-US" smtClean="0"/>
              <a:t>7/22/2026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071B77-4E90-C012-8B56-D57D9A08B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18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5B4A3-2BB9-C332-F5B4-EB077153D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9686" y="130933"/>
            <a:ext cx="1742107" cy="174210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C443D61-29D4-A3B4-52C9-73EBF9AC7A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369" y="1400094"/>
            <a:ext cx="8618605" cy="376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289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1274</TotalTime>
  <Words>331</Words>
  <Application>Microsoft Office PowerPoint</Application>
  <PresentationFormat>Widescreen</PresentationFormat>
  <Paragraphs>66</Paragraphs>
  <Slides>18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TAU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Jacob Fainguelernt</dc:creator>
  <cp:lastModifiedBy>Yogev Grinblatt</cp:lastModifiedBy>
  <cp:revision>13</cp:revision>
  <dcterms:created xsi:type="dcterms:W3CDTF">2021-12-15T06:30:50Z</dcterms:created>
  <dcterms:modified xsi:type="dcterms:W3CDTF">2026-07-22T07:29:22Z</dcterms:modified>
</cp:coreProperties>
</file>