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4"/>
  </p:sldMasterIdLst>
  <p:sldIdLst>
    <p:sldId id="256" r:id="rId5"/>
  </p:sldIdLst>
  <p:sldSz cx="35999738" cy="25199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BAEE"/>
    <a:srgbClr val="F5F5F5"/>
    <a:srgbClr val="E3E3E3"/>
    <a:srgbClr val="DEDEDE"/>
    <a:srgbClr val="9999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75"/>
  </p:normalViewPr>
  <p:slideViewPr>
    <p:cSldViewPr snapToGrid="0">
      <p:cViewPr>
        <p:scale>
          <a:sx n="33" d="100"/>
          <a:sy n="33" d="100"/>
        </p:scale>
        <p:origin x="1722" y="-456"/>
      </p:cViewPr>
      <p:guideLst/>
    </p:cSldViewPr>
  </p:slideViewPr>
  <p:notesTextViewPr>
    <p:cViewPr>
      <p:scale>
        <a:sx n="200" d="100"/>
        <a:sy n="200" d="100"/>
      </p:scale>
      <p:origin x="0" y="-12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81" y="4124164"/>
            <a:ext cx="30599777" cy="8773325"/>
          </a:xfrm>
        </p:spPr>
        <p:txBody>
          <a:bodyPr anchor="b"/>
          <a:lstStyle>
            <a:lvl1pPr algn="ctr">
              <a:defRPr sz="22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99967" y="13235822"/>
            <a:ext cx="26999804" cy="6084159"/>
          </a:xfrm>
        </p:spPr>
        <p:txBody>
          <a:bodyPr/>
          <a:lstStyle>
            <a:lvl1pPr marL="0" indent="0" algn="ctr">
              <a:buNone/>
              <a:defRPr sz="8819"/>
            </a:lvl1pPr>
            <a:lvl2pPr marL="1679981" indent="0" algn="ctr">
              <a:buNone/>
              <a:defRPr sz="7349"/>
            </a:lvl2pPr>
            <a:lvl3pPr marL="3359963" indent="0" algn="ctr">
              <a:buNone/>
              <a:defRPr sz="6614"/>
            </a:lvl3pPr>
            <a:lvl4pPr marL="5039944" indent="0" algn="ctr">
              <a:buNone/>
              <a:defRPr sz="5879"/>
            </a:lvl4pPr>
            <a:lvl5pPr marL="6719926" indent="0" algn="ctr">
              <a:buNone/>
              <a:defRPr sz="5879"/>
            </a:lvl5pPr>
            <a:lvl6pPr marL="8399907" indent="0" algn="ctr">
              <a:buNone/>
              <a:defRPr sz="5879"/>
            </a:lvl6pPr>
            <a:lvl7pPr marL="10079888" indent="0" algn="ctr">
              <a:buNone/>
              <a:defRPr sz="5879"/>
            </a:lvl7pPr>
            <a:lvl8pPr marL="11759870" indent="0" algn="ctr">
              <a:buNone/>
              <a:defRPr sz="5879"/>
            </a:lvl8pPr>
            <a:lvl9pPr marL="13439851" indent="0" algn="ctr">
              <a:buNone/>
              <a:defRPr sz="587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603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720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234" y="6282501"/>
            <a:ext cx="31049774" cy="10482488"/>
          </a:xfrm>
        </p:spPr>
        <p:txBody>
          <a:bodyPr anchor="b"/>
          <a:lstStyle>
            <a:lvl1pPr>
              <a:defRPr sz="2204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234" y="16864157"/>
            <a:ext cx="31049774" cy="5512493"/>
          </a:xfrm>
        </p:spPr>
        <p:txBody>
          <a:bodyPr/>
          <a:lstStyle>
            <a:lvl1pPr marL="0" indent="0">
              <a:buNone/>
              <a:defRPr sz="8819">
                <a:solidFill>
                  <a:schemeClr val="tx1">
                    <a:tint val="82000"/>
                  </a:schemeClr>
                </a:solidFill>
              </a:defRPr>
            </a:lvl1pPr>
            <a:lvl2pPr marL="1679981" indent="0">
              <a:buNone/>
              <a:defRPr sz="7349">
                <a:solidFill>
                  <a:schemeClr val="tx1">
                    <a:tint val="82000"/>
                  </a:schemeClr>
                </a:solidFill>
              </a:defRPr>
            </a:lvl2pPr>
            <a:lvl3pPr marL="3359963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3pPr>
            <a:lvl4pPr marL="5039944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4pPr>
            <a:lvl5pPr marL="6719926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5pPr>
            <a:lvl6pPr marL="8399907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6pPr>
            <a:lvl7pPr marL="10079888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7pPr>
            <a:lvl8pPr marL="11759870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8pPr>
            <a:lvl9pPr marL="13439851" indent="0">
              <a:buNone/>
              <a:defRPr sz="587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818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4982" y="6708326"/>
            <a:ext cx="15299889" cy="1598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4867" y="6708326"/>
            <a:ext cx="15299889" cy="159891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521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341671"/>
            <a:ext cx="31049774" cy="487083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9675" y="6177496"/>
            <a:ext cx="15229574" cy="3027495"/>
          </a:xfrm>
        </p:spPr>
        <p:txBody>
          <a:bodyPr anchor="b"/>
          <a:lstStyle>
            <a:lvl1pPr marL="0" indent="0">
              <a:buNone/>
              <a:defRPr sz="8819" b="1"/>
            </a:lvl1pPr>
            <a:lvl2pPr marL="1679981" indent="0">
              <a:buNone/>
              <a:defRPr sz="7349" b="1"/>
            </a:lvl2pPr>
            <a:lvl3pPr marL="3359963" indent="0">
              <a:buNone/>
              <a:defRPr sz="6614" b="1"/>
            </a:lvl3pPr>
            <a:lvl4pPr marL="5039944" indent="0">
              <a:buNone/>
              <a:defRPr sz="5879" b="1"/>
            </a:lvl4pPr>
            <a:lvl5pPr marL="6719926" indent="0">
              <a:buNone/>
              <a:defRPr sz="5879" b="1"/>
            </a:lvl5pPr>
            <a:lvl6pPr marL="8399907" indent="0">
              <a:buNone/>
              <a:defRPr sz="5879" b="1"/>
            </a:lvl6pPr>
            <a:lvl7pPr marL="10079888" indent="0">
              <a:buNone/>
              <a:defRPr sz="5879" b="1"/>
            </a:lvl7pPr>
            <a:lvl8pPr marL="11759870" indent="0">
              <a:buNone/>
              <a:defRPr sz="5879" b="1"/>
            </a:lvl8pPr>
            <a:lvl9pPr marL="13439851" indent="0">
              <a:buNone/>
              <a:defRPr sz="58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79675" y="9204991"/>
            <a:ext cx="15229574" cy="135391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4869" y="6177496"/>
            <a:ext cx="15304578" cy="3027495"/>
          </a:xfrm>
        </p:spPr>
        <p:txBody>
          <a:bodyPr anchor="b"/>
          <a:lstStyle>
            <a:lvl1pPr marL="0" indent="0">
              <a:buNone/>
              <a:defRPr sz="8819" b="1"/>
            </a:lvl1pPr>
            <a:lvl2pPr marL="1679981" indent="0">
              <a:buNone/>
              <a:defRPr sz="7349" b="1"/>
            </a:lvl2pPr>
            <a:lvl3pPr marL="3359963" indent="0">
              <a:buNone/>
              <a:defRPr sz="6614" b="1"/>
            </a:lvl3pPr>
            <a:lvl4pPr marL="5039944" indent="0">
              <a:buNone/>
              <a:defRPr sz="5879" b="1"/>
            </a:lvl4pPr>
            <a:lvl5pPr marL="6719926" indent="0">
              <a:buNone/>
              <a:defRPr sz="5879" b="1"/>
            </a:lvl5pPr>
            <a:lvl6pPr marL="8399907" indent="0">
              <a:buNone/>
              <a:defRPr sz="5879" b="1"/>
            </a:lvl6pPr>
            <a:lvl7pPr marL="10079888" indent="0">
              <a:buNone/>
              <a:defRPr sz="5879" b="1"/>
            </a:lvl7pPr>
            <a:lvl8pPr marL="11759870" indent="0">
              <a:buNone/>
              <a:defRPr sz="5879" b="1"/>
            </a:lvl8pPr>
            <a:lvl9pPr marL="13439851" indent="0">
              <a:buNone/>
              <a:defRPr sz="58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4869" y="9204991"/>
            <a:ext cx="15304578" cy="1353915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641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277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05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679998"/>
            <a:ext cx="11610853" cy="5879994"/>
          </a:xfrm>
        </p:spPr>
        <p:txBody>
          <a:bodyPr anchor="b"/>
          <a:lstStyle>
            <a:lvl1pPr>
              <a:defRPr sz="117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4578" y="3628335"/>
            <a:ext cx="18224867" cy="17908316"/>
          </a:xfrm>
        </p:spPr>
        <p:txBody>
          <a:bodyPr/>
          <a:lstStyle>
            <a:lvl1pPr>
              <a:defRPr sz="11758"/>
            </a:lvl1pPr>
            <a:lvl2pPr>
              <a:defRPr sz="10289"/>
            </a:lvl2pPr>
            <a:lvl3pPr>
              <a:defRPr sz="8819"/>
            </a:lvl3pPr>
            <a:lvl4pPr>
              <a:defRPr sz="7349"/>
            </a:lvl4pPr>
            <a:lvl5pPr>
              <a:defRPr sz="7349"/>
            </a:lvl5pPr>
            <a:lvl6pPr>
              <a:defRPr sz="7349"/>
            </a:lvl6pPr>
            <a:lvl7pPr>
              <a:defRPr sz="7349"/>
            </a:lvl7pPr>
            <a:lvl8pPr>
              <a:defRPr sz="7349"/>
            </a:lvl8pPr>
            <a:lvl9pPr>
              <a:defRPr sz="734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7559993"/>
            <a:ext cx="11610853" cy="14005821"/>
          </a:xfrm>
        </p:spPr>
        <p:txBody>
          <a:bodyPr/>
          <a:lstStyle>
            <a:lvl1pPr marL="0" indent="0">
              <a:buNone/>
              <a:defRPr sz="5879"/>
            </a:lvl1pPr>
            <a:lvl2pPr marL="1679981" indent="0">
              <a:buNone/>
              <a:defRPr sz="5144"/>
            </a:lvl2pPr>
            <a:lvl3pPr marL="3359963" indent="0">
              <a:buNone/>
              <a:defRPr sz="4409"/>
            </a:lvl3pPr>
            <a:lvl4pPr marL="5039944" indent="0">
              <a:buNone/>
              <a:defRPr sz="3674"/>
            </a:lvl4pPr>
            <a:lvl5pPr marL="6719926" indent="0">
              <a:buNone/>
              <a:defRPr sz="3674"/>
            </a:lvl5pPr>
            <a:lvl6pPr marL="8399907" indent="0">
              <a:buNone/>
              <a:defRPr sz="3674"/>
            </a:lvl6pPr>
            <a:lvl7pPr marL="10079888" indent="0">
              <a:buNone/>
              <a:defRPr sz="3674"/>
            </a:lvl7pPr>
            <a:lvl8pPr marL="11759870" indent="0">
              <a:buNone/>
              <a:defRPr sz="3674"/>
            </a:lvl8pPr>
            <a:lvl9pPr marL="13439851" indent="0">
              <a:buNone/>
              <a:defRPr sz="36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1970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79671" y="1679998"/>
            <a:ext cx="11610853" cy="5879994"/>
          </a:xfrm>
        </p:spPr>
        <p:txBody>
          <a:bodyPr anchor="b"/>
          <a:lstStyle>
            <a:lvl1pPr>
              <a:defRPr sz="1175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4578" y="3628335"/>
            <a:ext cx="18224867" cy="17908316"/>
          </a:xfrm>
        </p:spPr>
        <p:txBody>
          <a:bodyPr anchor="t"/>
          <a:lstStyle>
            <a:lvl1pPr marL="0" indent="0">
              <a:buNone/>
              <a:defRPr sz="11758"/>
            </a:lvl1pPr>
            <a:lvl2pPr marL="1679981" indent="0">
              <a:buNone/>
              <a:defRPr sz="10289"/>
            </a:lvl2pPr>
            <a:lvl3pPr marL="3359963" indent="0">
              <a:buNone/>
              <a:defRPr sz="8819"/>
            </a:lvl3pPr>
            <a:lvl4pPr marL="5039944" indent="0">
              <a:buNone/>
              <a:defRPr sz="7349"/>
            </a:lvl4pPr>
            <a:lvl5pPr marL="6719926" indent="0">
              <a:buNone/>
              <a:defRPr sz="7349"/>
            </a:lvl5pPr>
            <a:lvl6pPr marL="8399907" indent="0">
              <a:buNone/>
              <a:defRPr sz="7349"/>
            </a:lvl6pPr>
            <a:lvl7pPr marL="10079888" indent="0">
              <a:buNone/>
              <a:defRPr sz="7349"/>
            </a:lvl7pPr>
            <a:lvl8pPr marL="11759870" indent="0">
              <a:buNone/>
              <a:defRPr sz="7349"/>
            </a:lvl8pPr>
            <a:lvl9pPr marL="13439851" indent="0">
              <a:buNone/>
              <a:defRPr sz="7349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79671" y="7559993"/>
            <a:ext cx="11610853" cy="14005821"/>
          </a:xfrm>
        </p:spPr>
        <p:txBody>
          <a:bodyPr/>
          <a:lstStyle>
            <a:lvl1pPr marL="0" indent="0">
              <a:buNone/>
              <a:defRPr sz="5879"/>
            </a:lvl1pPr>
            <a:lvl2pPr marL="1679981" indent="0">
              <a:buNone/>
              <a:defRPr sz="5144"/>
            </a:lvl2pPr>
            <a:lvl3pPr marL="3359963" indent="0">
              <a:buNone/>
              <a:defRPr sz="4409"/>
            </a:lvl3pPr>
            <a:lvl4pPr marL="5039944" indent="0">
              <a:buNone/>
              <a:defRPr sz="3674"/>
            </a:lvl4pPr>
            <a:lvl5pPr marL="6719926" indent="0">
              <a:buNone/>
              <a:defRPr sz="3674"/>
            </a:lvl5pPr>
            <a:lvl6pPr marL="8399907" indent="0">
              <a:buNone/>
              <a:defRPr sz="3674"/>
            </a:lvl6pPr>
            <a:lvl7pPr marL="10079888" indent="0">
              <a:buNone/>
              <a:defRPr sz="3674"/>
            </a:lvl7pPr>
            <a:lvl8pPr marL="11759870" indent="0">
              <a:buNone/>
              <a:defRPr sz="3674"/>
            </a:lvl8pPr>
            <a:lvl9pPr marL="13439851" indent="0">
              <a:buNone/>
              <a:defRPr sz="367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5062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775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2314" y="1341665"/>
            <a:ext cx="7762444" cy="2135581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4984" y="1341665"/>
            <a:ext cx="22837334" cy="2135581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64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4982" y="1341671"/>
            <a:ext cx="31049774" cy="487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4982" y="6708326"/>
            <a:ext cx="31049774" cy="15989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4982" y="23356649"/>
            <a:ext cx="8099941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ABFBC8-CE72-EF49-83B3-C915A10C458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4913" y="23356649"/>
            <a:ext cx="12149912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4815" y="23356649"/>
            <a:ext cx="8099941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09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B47542-D3D7-5F4D-9DA6-74C632914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724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3359963" rtl="0" eaLnBrk="1" latinLnBrk="0" hangingPunct="1">
        <a:lnSpc>
          <a:spcPct val="90000"/>
        </a:lnSpc>
        <a:spcBef>
          <a:spcPct val="0"/>
        </a:spcBef>
        <a:buNone/>
        <a:defRPr sz="161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39991" indent="-839991" algn="l" defTabSz="3359963" rtl="0" eaLnBrk="1" latinLnBrk="0" hangingPunct="1">
        <a:lnSpc>
          <a:spcPct val="90000"/>
        </a:lnSpc>
        <a:spcBef>
          <a:spcPts val="3674"/>
        </a:spcBef>
        <a:buFont typeface="Arial" panose="020B0604020202020204" pitchFamily="34" charset="0"/>
        <a:buChar char="•"/>
        <a:defRPr sz="10289" kern="1200">
          <a:solidFill>
            <a:schemeClr val="tx1"/>
          </a:solidFill>
          <a:latin typeface="+mn-lt"/>
          <a:ea typeface="+mn-ea"/>
          <a:cs typeface="+mn-cs"/>
        </a:defRPr>
      </a:lvl1pPr>
      <a:lvl2pPr marL="2519972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8819" kern="1200">
          <a:solidFill>
            <a:schemeClr val="tx1"/>
          </a:solidFill>
          <a:latin typeface="+mn-lt"/>
          <a:ea typeface="+mn-ea"/>
          <a:cs typeface="+mn-cs"/>
        </a:defRPr>
      </a:lvl2pPr>
      <a:lvl3pPr marL="4199954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7349" kern="1200">
          <a:solidFill>
            <a:schemeClr val="tx1"/>
          </a:solidFill>
          <a:latin typeface="+mn-lt"/>
          <a:ea typeface="+mn-ea"/>
          <a:cs typeface="+mn-cs"/>
        </a:defRPr>
      </a:lvl3pPr>
      <a:lvl4pPr marL="5879935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4pPr>
      <a:lvl5pPr marL="7559916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5pPr>
      <a:lvl6pPr marL="9239898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6pPr>
      <a:lvl7pPr marL="10919879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7pPr>
      <a:lvl8pPr marL="12599861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8pPr>
      <a:lvl9pPr marL="14279842" indent="-839991" algn="l" defTabSz="3359963" rtl="0" eaLnBrk="1" latinLnBrk="0" hangingPunct="1">
        <a:lnSpc>
          <a:spcPct val="90000"/>
        </a:lnSpc>
        <a:spcBef>
          <a:spcPts val="1837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1pPr>
      <a:lvl2pPr marL="1679981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359963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3pPr>
      <a:lvl4pPr marL="5039944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4pPr>
      <a:lvl5pPr marL="6719926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5pPr>
      <a:lvl6pPr marL="8399907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6pPr>
      <a:lvl7pPr marL="10079888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7pPr>
      <a:lvl8pPr marL="11759870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8pPr>
      <a:lvl9pPr marL="13439851" algn="l" defTabSz="3359963" rtl="0" eaLnBrk="1" latinLnBrk="0" hangingPunct="1">
        <a:defRPr sz="66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>
            <a:extLst>
              <a:ext uri="{FF2B5EF4-FFF2-40B4-BE49-F238E27FC236}">
                <a16:creationId xmlns:a16="http://schemas.microsoft.com/office/drawing/2014/main" id="{EA173A7C-98D4-662B-E91A-3ACB122111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24078827" y="12725249"/>
            <a:ext cx="11752653" cy="12455090"/>
          </a:xfrm>
          <a:custGeom>
            <a:avLst/>
            <a:gdLst>
              <a:gd name="connsiteX0" fmla="*/ 0 w 8312682"/>
              <a:gd name="connsiteY0" fmla="*/ 0 h 8809518"/>
              <a:gd name="connsiteX1" fmla="*/ 8312682 w 8312682"/>
              <a:gd name="connsiteY1" fmla="*/ 0 h 8809518"/>
              <a:gd name="connsiteX2" fmla="*/ 8248871 w 8312682"/>
              <a:gd name="connsiteY2" fmla="*/ 357325 h 8809518"/>
              <a:gd name="connsiteX3" fmla="*/ 264970 w 8312682"/>
              <a:gd name="connsiteY3" fmla="*/ 8748363 h 8809518"/>
              <a:gd name="connsiteX4" fmla="*/ 0 w 8312682"/>
              <a:gd name="connsiteY4" fmla="*/ 8809518 h 880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2682" h="8809518">
                <a:moveTo>
                  <a:pt x="0" y="0"/>
                </a:moveTo>
                <a:lnTo>
                  <a:pt x="8312682" y="0"/>
                </a:lnTo>
                <a:lnTo>
                  <a:pt x="8248871" y="357325"/>
                </a:lnTo>
                <a:cubicBezTo>
                  <a:pt x="7410895" y="4452411"/>
                  <a:pt x="4284949" y="7714069"/>
                  <a:pt x="264970" y="8748363"/>
                </a:cubicBezTo>
                <a:lnTo>
                  <a:pt x="0" y="8809518"/>
                </a:lnTo>
                <a:close/>
              </a:path>
            </a:pathLst>
          </a:cu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3037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B3848E-C944-BA94-F84E-17ACF958EB4A}"/>
              </a:ext>
            </a:extLst>
          </p:cNvPr>
          <p:cNvSpPr>
            <a:spLocks/>
          </p:cNvSpPr>
          <p:nvPr/>
        </p:nvSpPr>
        <p:spPr>
          <a:xfrm>
            <a:off x="24029965" y="5703864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 defTabSz="2519995">
              <a:defRPr/>
            </a:pPr>
            <a:endParaRPr lang="en-US" sz="3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B0C629-A0BD-27E1-641C-639B84044F91}"/>
              </a:ext>
            </a:extLst>
          </p:cNvPr>
          <p:cNvSpPr txBox="1"/>
          <p:nvPr/>
        </p:nvSpPr>
        <p:spPr>
          <a:xfrm>
            <a:off x="24335961" y="5480301"/>
            <a:ext cx="10504800" cy="187346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54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Results</a:t>
            </a:r>
            <a:endParaRPr lang="en-US" sz="3400" dirty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Harmonic – Percussive Separation:</a:t>
            </a: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just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lvl="0" defTabSz="2519995">
              <a:defRPr/>
            </a:pPr>
            <a:r>
              <a:rPr lang="en-US" sz="3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Our algorithm successfully splits the original audio into its sustained, pitched sounds (horizontal lines in the Harmonic plot) and sharp, transient drum hits (vertical lines in the Percussive plot).</a:t>
            </a:r>
          </a:p>
          <a:p>
            <a:pPr lvl="0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defTabSz="2519995">
              <a:defRPr/>
            </a:pPr>
            <a:r>
              <a:rPr lang="en-US" sz="3400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Performance:</a:t>
            </a: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defTabSz="2519995">
              <a:defRPr/>
            </a:pPr>
            <a:endParaRPr lang="en-US" sz="34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defTabSz="2519995">
              <a:defRPr/>
            </a:pPr>
            <a:endParaRPr kumimoji="0" lang="en-US" sz="3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0" defTabSz="2519995">
              <a:defRPr/>
            </a:pPr>
            <a:endParaRPr kumimoji="0" lang="en-US" sz="34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5654" b="1" dirty="0">
              <a:solidFill>
                <a:prstClr val="black"/>
              </a:solidFill>
              <a:latin typeface="Georgia" panose="02040502050405020303" pitchFamily="18" charset="0"/>
            </a:endParaRPr>
          </a:p>
          <a:p>
            <a:pPr marL="0" marR="0" lvl="0" indent="0" algn="l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5654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+mn-ea"/>
              <a:cs typeface="+mn-cs"/>
            </a:endParaRPr>
          </a:p>
          <a:p>
            <a:pPr marL="0" marR="0" lvl="0" indent="0" algn="ctr" defTabSz="251999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654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References</a:t>
            </a:r>
          </a:p>
          <a:p>
            <a:pPr lvl="0" algn="just" defTabSz="2519995">
              <a:defRPr/>
            </a:pPr>
            <a:r>
              <a:rPr kumimoji="0" lang="en-US" sz="3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[1] </a:t>
            </a:r>
            <a:r>
              <a:rPr lang="en-US" sz="3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Jonathan Driedger and Meinard Müller, “A Review of Time-Scale Modification of</a:t>
            </a:r>
          </a:p>
          <a:p>
            <a:pPr lvl="0" algn="just" defTabSz="2519995">
              <a:defRPr/>
            </a:pPr>
            <a:r>
              <a:rPr lang="en-US" sz="3400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Music Signals”, Applied Sciences (2016), volume 6, article 57.</a:t>
            </a:r>
          </a:p>
          <a:p>
            <a:pPr lvl="0" defTabSz="2519995">
              <a:defRPr/>
            </a:pPr>
            <a:endParaRPr lang="en-US" sz="3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A1BDC1F-4253-93BE-E909-D2E3E16B33B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44" y="23773252"/>
            <a:ext cx="35651367" cy="1407088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16CA00FE-82B9-8932-EFAB-2706DD59754C}"/>
              </a:ext>
            </a:extLst>
          </p:cNvPr>
          <p:cNvSpPr>
            <a:spLocks/>
          </p:cNvSpPr>
          <p:nvPr/>
        </p:nvSpPr>
        <p:spPr>
          <a:xfrm>
            <a:off x="185731" y="5039"/>
            <a:ext cx="11752653" cy="12455090"/>
          </a:xfrm>
          <a:custGeom>
            <a:avLst/>
            <a:gdLst>
              <a:gd name="connsiteX0" fmla="*/ 0 w 8312682"/>
              <a:gd name="connsiteY0" fmla="*/ 0 h 8809518"/>
              <a:gd name="connsiteX1" fmla="*/ 8312682 w 8312682"/>
              <a:gd name="connsiteY1" fmla="*/ 0 h 8809518"/>
              <a:gd name="connsiteX2" fmla="*/ 8248871 w 8312682"/>
              <a:gd name="connsiteY2" fmla="*/ 357325 h 8809518"/>
              <a:gd name="connsiteX3" fmla="*/ 264970 w 8312682"/>
              <a:gd name="connsiteY3" fmla="*/ 8748363 h 8809518"/>
              <a:gd name="connsiteX4" fmla="*/ 0 w 8312682"/>
              <a:gd name="connsiteY4" fmla="*/ 8809518 h 88095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312682" h="8809518">
                <a:moveTo>
                  <a:pt x="0" y="0"/>
                </a:moveTo>
                <a:lnTo>
                  <a:pt x="8312682" y="0"/>
                </a:lnTo>
                <a:lnTo>
                  <a:pt x="8248871" y="357325"/>
                </a:lnTo>
                <a:cubicBezTo>
                  <a:pt x="7410895" y="4452411"/>
                  <a:pt x="4284949" y="7714069"/>
                  <a:pt x="264970" y="8748363"/>
                </a:cubicBezTo>
                <a:lnTo>
                  <a:pt x="0" y="8809518"/>
                </a:lnTo>
                <a:close/>
              </a:path>
            </a:pathLst>
          </a:custGeom>
          <a:solidFill>
            <a:srgbClr val="E3E3E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defTabSz="646357" rtl="1"/>
            <a:endParaRPr lang="en-US" sz="3037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EDB904-F567-0976-A615-296E3DFB021F}"/>
              </a:ext>
            </a:extLst>
          </p:cNvPr>
          <p:cNvGrpSpPr/>
          <p:nvPr/>
        </p:nvGrpSpPr>
        <p:grpSpPr>
          <a:xfrm>
            <a:off x="185731" y="18722"/>
            <a:ext cx="35651367" cy="1407088"/>
            <a:chOff x="185731" y="18722"/>
            <a:chExt cx="35651367" cy="140708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F0D1D2B-CD74-3EC0-1A7E-DD2823DA67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5731" y="18722"/>
              <a:ext cx="35651367" cy="1407088"/>
            </a:xfrm>
            <a:prstGeom prst="rect">
              <a:avLst/>
            </a:prstGeom>
          </p:spPr>
        </p:pic>
        <p:pic>
          <p:nvPicPr>
            <p:cNvPr id="5" name="Graphic 4">
              <a:extLst>
                <a:ext uri="{FF2B5EF4-FFF2-40B4-BE49-F238E27FC236}">
                  <a16:creationId xmlns:a16="http://schemas.microsoft.com/office/drawing/2014/main" id="{A5350F39-C37A-6532-34D2-E7EA627780B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408874" y="257838"/>
              <a:ext cx="3655103" cy="928853"/>
            </a:xfrm>
            <a:prstGeom prst="rect">
              <a:avLst/>
            </a:prstGeom>
          </p:spPr>
        </p:pic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1FF67915-D1F3-C9D7-C6EC-4FD70CFE97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5764" y="181120"/>
              <a:ext cx="5796815" cy="1005571"/>
            </a:xfrm>
            <a:prstGeom prst="rect">
              <a:avLst/>
            </a:prstGeom>
          </p:spPr>
        </p:pic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C5E4EFAB-AB8C-CA28-1D50-48A1B49E8B20}"/>
              </a:ext>
            </a:extLst>
          </p:cNvPr>
          <p:cNvSpPr>
            <a:spLocks/>
          </p:cNvSpPr>
          <p:nvPr/>
        </p:nvSpPr>
        <p:spPr>
          <a:xfrm>
            <a:off x="809778" y="1440891"/>
            <a:ext cx="34403273" cy="3921038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46357" rtl="1"/>
            <a:endParaRPr lang="en-US" sz="3037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DC5E95-292C-ABA8-58EF-6AEFEBCEF01C}"/>
              </a:ext>
            </a:extLst>
          </p:cNvPr>
          <p:cNvSpPr txBox="1">
            <a:spLocks/>
          </p:cNvSpPr>
          <p:nvPr/>
        </p:nvSpPr>
        <p:spPr>
          <a:xfrm>
            <a:off x="809779" y="1578118"/>
            <a:ext cx="34380186" cy="12671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634" b="1" dirty="0" err="1">
                <a:solidFill>
                  <a:srgbClr val="F5F5F5"/>
                </a:solidFill>
                <a:latin typeface="Georgia" panose="02040502050405020303" pitchFamily="18" charset="0"/>
              </a:rPr>
              <a:t>SyncRun</a:t>
            </a:r>
            <a:r>
              <a:rPr lang="en-US" sz="7634" b="1" dirty="0">
                <a:solidFill>
                  <a:srgbClr val="F5F5F5"/>
                </a:solidFill>
                <a:latin typeface="Georgia" panose="02040502050405020303" pitchFamily="18" charset="0"/>
              </a:rPr>
              <a:t> – Align Music to Run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6FB1D-CB3A-ADB9-F137-C4249CAB9851}"/>
              </a:ext>
            </a:extLst>
          </p:cNvPr>
          <p:cNvSpPr txBox="1">
            <a:spLocks/>
          </p:cNvSpPr>
          <p:nvPr/>
        </p:nvSpPr>
        <p:spPr>
          <a:xfrm>
            <a:off x="8487505" y="2765365"/>
            <a:ext cx="18390794" cy="1658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Matan Granot, Yogev Grinblatt</a:t>
            </a:r>
            <a:endParaRPr lang="he-IL" sz="4000" dirty="0">
              <a:cs typeface="Open Sans Hebrew" panose="00000500000000000000" pitchFamily="2" charset="-79"/>
            </a:endParaRPr>
          </a:p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Advisor</a:t>
            </a:r>
            <a:r>
              <a:rPr lang="he-IL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Dr. Lior Arbel</a:t>
            </a:r>
            <a:endParaRPr lang="he-IL" sz="5089" b="1" dirty="0">
              <a:solidFill>
                <a:srgbClr val="E3E3E3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0E0FC3-54B6-7A22-6620-BBA9DC55242F}"/>
              </a:ext>
            </a:extLst>
          </p:cNvPr>
          <p:cNvSpPr>
            <a:spLocks/>
          </p:cNvSpPr>
          <p:nvPr/>
        </p:nvSpPr>
        <p:spPr>
          <a:xfrm>
            <a:off x="827246" y="5466624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4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82CFC1-305C-A411-B1FF-DD54AA94EB29}"/>
                  </a:ext>
                </a:extLst>
              </p:cNvPr>
              <p:cNvSpPr txBox="1"/>
              <p:nvPr/>
            </p:nvSpPr>
            <p:spPr>
              <a:xfrm>
                <a:off x="1158977" y="5658025"/>
                <a:ext cx="10503375" cy="193910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ctr" defTabSz="2519995">
                  <a:defRPr/>
                </a:pPr>
                <a:r>
                  <a:rPr lang="en-US" sz="5654" b="1" dirty="0">
                    <a:latin typeface="Georgia" panose="02040502050405020303" pitchFamily="18" charset="0"/>
                  </a:rPr>
                  <a:t>Introduction</a:t>
                </a:r>
              </a:p>
              <a:p>
                <a:pPr lvl="0" algn="just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In our project, we want to adjust a simple rhythmic song – like “Seven Nation Army” to match the simulated steps of a runner, during his various workouts.</a:t>
                </a:r>
              </a:p>
              <a:p>
                <a:pPr lvl="0" algn="just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This is done by using DSP algorithms, to find the optimal speed-up/speed-down rate, and to stretch the audio by the best value, while keeping the pitch of the original song. These algorithms are implemented in python.</a:t>
                </a: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ctr" defTabSz="2519995">
                  <a:defRPr/>
                </a:pPr>
                <a:r>
                  <a:rPr lang="en-US" sz="5654" b="1" dirty="0">
                    <a:latin typeface="Georgia" panose="02040502050405020303" pitchFamily="18" charset="0"/>
                  </a:rPr>
                  <a:t>Motivation</a:t>
                </a:r>
              </a:p>
              <a:p>
                <a:pPr lvl="0" algn="just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want to give the runner smoother running experience. Because in reality, most of the songs are slower than the average runner pace.</a:t>
                </a: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en-US" sz="6600" b="1" dirty="0">
                    <a:latin typeface="Georgia" panose="02040502050405020303" pitchFamily="18" charset="0"/>
                  </a:rPr>
                  <a:t>Implementation</a:t>
                </a:r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endParaRPr lang="en-US" sz="3600" dirty="0"/>
              </a:p>
              <a:p>
                <a:r>
                  <a:rPr lang="en-US" sz="3400" b="1" dirty="0"/>
                  <a:t>Pre-processing: </a:t>
                </a:r>
                <a:r>
                  <a:rPr lang="en-US" sz="3400" dirty="0"/>
                  <a:t>First, we make 2 time-stamped vectors – One song beats time stamps (using beat track), Second is run steps time stamps.</a:t>
                </a: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Then we do beat alignment - divide those vectors in segments of 2.5 seconds, and find the best speed-up ratio for each segment, in terms of L1 distance.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𝑜𝑝𝑡</m:t>
                              </m:r>
                            </m:sub>
                          </m:sSub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𝑎𝑟𝑔𝑚𝑖𝑛</m:t>
                          </m:r>
                        </m:e>
                        <m:sub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𝑟</m:t>
                          </m:r>
                        </m:sub>
                      </m:sSub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{</m:t>
                      </m:r>
                      <m:d>
                        <m:dPr>
                          <m:begChr m:val="‖"/>
                          <m:endChr m:val="‖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𝑏𝑒𝑎𝑡𝑠</m:t>
                              </m:r>
                            </m:e>
                          </m:acc>
                          <m:r>
                            <a:rPr lang="en-US" sz="34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b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𝑠𝑝𝑒𝑒𝑑</m:t>
                              </m:r>
                              <m: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𝑢𝑝</m:t>
                              </m:r>
                            </m:sub>
                          </m:sSub>
                          <m:r>
                            <a:rPr lang="en-US" sz="3400" i="1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∗</m:t>
                          </m:r>
                          <m:acc>
                            <m:accPr>
                              <m:chr m:val="⃗"/>
                              <m:ctrlP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accPr>
                            <m:e>
                              <m:r>
                                <a:rPr lang="en-US" sz="3400" i="1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𝑠𝑡𝑒𝑝𝑠</m:t>
                              </m:r>
                            </m:e>
                          </m:acc>
                        </m:e>
                      </m:d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}</m:t>
                      </m:r>
                    </m:oMath>
                  </m:oMathPara>
                </a14:m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B82CFC1-305C-A411-B1FF-DD54AA94EB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8977" y="5658025"/>
                <a:ext cx="10503375" cy="19391078"/>
              </a:xfrm>
              <a:prstGeom prst="rect">
                <a:avLst/>
              </a:prstGeom>
              <a:blipFill>
                <a:blip r:embed="rId6"/>
                <a:stretch>
                  <a:fillRect l="-1625" t="-880" r="-1625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8C0AAB24-095F-B78F-4B9B-B1818F11F683}"/>
              </a:ext>
            </a:extLst>
          </p:cNvPr>
          <p:cNvSpPr>
            <a:spLocks/>
          </p:cNvSpPr>
          <p:nvPr/>
        </p:nvSpPr>
        <p:spPr>
          <a:xfrm>
            <a:off x="12379743" y="5690835"/>
            <a:ext cx="11160000" cy="17828842"/>
          </a:xfrm>
          <a:prstGeom prst="rect">
            <a:avLst/>
          </a:prstGeom>
          <a:solidFill>
            <a:srgbClr val="F5F5F5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03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A25792-806E-7010-FEF7-A9FE738D7F23}"/>
                  </a:ext>
                </a:extLst>
              </p:cNvPr>
              <p:cNvSpPr txBox="1"/>
              <p:nvPr/>
            </p:nvSpPr>
            <p:spPr>
              <a:xfrm>
                <a:off x="12579899" y="5690835"/>
                <a:ext cx="10504800" cy="168206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just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algn="ctr" defTabSz="2519995">
                  <a:defRPr/>
                </a:pP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defTabSz="2519995">
                  <a:defRPr/>
                </a:pPr>
                <a:r>
                  <a:rPr lang="en-US" sz="3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HPS (Harmonic-Precussive Separation):</a:t>
                </a: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Then</a:t>
                </a:r>
                <a:r>
                  <a:rPr lang="en-US" sz="3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we apply STFT (Short Time Fourier Transform) : </a:t>
                </a:r>
              </a:p>
              <a:p>
                <a:pPr lvl="0" defTabSz="2519995"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𝑋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dPr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𝑚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, 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𝑘</m:t>
                          </m:r>
                        </m:e>
                      </m:d>
                      <m:r>
                        <a:rPr lang="en-US" sz="3400" b="0" i="1" smtClean="0">
                          <a:latin typeface="Cambria Math" panose="02040503050406030204" pitchFamily="18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</m:ctrlPr>
                        </m:naryPr>
                        <m:sub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𝑛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=0</m:t>
                          </m:r>
                        </m:sub>
                        <m:sup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𝑁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−1</m:t>
                          </m:r>
                        </m:sup>
                        <m:e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𝑥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+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𝑚𝐻</m:t>
                              </m:r>
                            </m:e>
                          </m:d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⋅</m:t>
                          </m:r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𝑤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⋅</m:t>
                          </m:r>
                          <m:sSup>
                            <m:sSupPr>
                              <m:ctrlP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−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𝑗</m:t>
                              </m:r>
                              <m:f>
                                <m:fPr>
                                  <m:ctrlP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2</m:t>
                                  </m:r>
                                  <m: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en-US" sz="3400" b="0" i="1" smtClean="0">
                                      <a:latin typeface="Cambria Math" panose="02040503050406030204" pitchFamily="18" charset="0"/>
                                      <a:ea typeface="Calibri" panose="020F0502020204030204" pitchFamily="34" charset="0"/>
                                      <a:cs typeface="Calibri" panose="020F0502020204030204" pitchFamily="34" charset="0"/>
                                    </a:rPr>
                                    <m:t>𝑁</m:t>
                                  </m:r>
                                </m:den>
                              </m:f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𝑘𝑛</m:t>
                              </m:r>
                              <m:r>
                                <a:rPr lang="en-US" sz="3400" b="0" i="1" smtClean="0">
                                  <a:latin typeface="Cambria Math" panose="02040503050406030204" pitchFamily="18" charset="0"/>
                                  <a:ea typeface="Calibri" panose="020F0502020204030204" pitchFamily="34" charset="0"/>
                                  <a:cs typeface="Calibri" panose="020F0502020204030204" pitchFamily="34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sz="3400" b="0" i="1" smtClean="0">
                              <a:latin typeface="Cambria Math" panose="02040503050406030204" pitchFamily="18" charset="0"/>
                              <a:ea typeface="Calibri" panose="020F0502020204030204" pitchFamily="34" charset="0"/>
                              <a:cs typeface="Calibri" panose="020F0502020204030204" pitchFamily="34" charset="0"/>
                            </a:rPr>
                            <m:t>  </m:t>
                          </m:r>
                        </m:e>
                      </m:nary>
                    </m:oMath>
                  </m:oMathPara>
                </a14:m>
                <a:endParaRPr lang="en-US" sz="3400" b="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And use median filters to separate the harmonic and percussive content.</a:t>
                </a:r>
                <a:endParaRPr lang="en-US" sz="5654" b="1" dirty="0">
                  <a:latin typeface="Georgia" panose="02040502050405020303" pitchFamily="18" charset="0"/>
                </a:endParaRPr>
              </a:p>
              <a:p>
                <a:pPr lvl="0" defTabSz="2519995">
                  <a:defRPr/>
                </a:pPr>
                <a:endParaRPr lang="en-US" sz="3400" b="1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r>
                  <a:rPr lang="en-US" sz="3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WSOLA</a:t>
                </a: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- Changes audio duration without altering pitch by overlapping similar time-domain waveforms.</a:t>
                </a: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r>
                  <a:rPr lang="en-US" sz="3400" b="1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Phase vocoder (PV-TSM)</a:t>
                </a:r>
                <a:r>
                  <a:rPr lang="en-US" sz="3400" dirty="0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 - Independently controls time and pitch using the STFT to adjust frequency phases.</a:t>
                </a: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algn="just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  <a:p>
                <a:pPr lvl="0" defTabSz="2519995">
                  <a:defRPr/>
                </a:pPr>
                <a:endParaRPr lang="en-US" sz="3400" dirty="0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BA25792-806E-7010-FEF7-A9FE738D7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79899" y="5690835"/>
                <a:ext cx="10504800" cy="16820695"/>
              </a:xfrm>
              <a:prstGeom prst="rect">
                <a:avLst/>
              </a:prstGeom>
              <a:blipFill>
                <a:blip r:embed="rId7"/>
                <a:stretch>
                  <a:fillRect l="-1625" r="-1393"/>
                </a:stretch>
              </a:blipFill>
            </p:spPr>
            <p:txBody>
              <a:bodyPr/>
              <a:lstStyle/>
              <a:p>
                <a:r>
                  <a:rPr lang="en-IL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A9E7048A-0105-0DB4-1E9E-8A43F18ADB4F}"/>
              </a:ext>
            </a:extLst>
          </p:cNvPr>
          <p:cNvSpPr txBox="1">
            <a:spLocks/>
          </p:cNvSpPr>
          <p:nvPr/>
        </p:nvSpPr>
        <p:spPr>
          <a:xfrm>
            <a:off x="9121439" y="4364259"/>
            <a:ext cx="18390794" cy="875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Project</a:t>
            </a:r>
            <a:r>
              <a:rPr lang="en-US" sz="395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5089" b="1" dirty="0">
                <a:solidFill>
                  <a:srgbClr val="E3E3E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Number: 25-1-1-3408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4C5F3C9-EC7F-7F8B-E427-D63B561A8C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299" y="14981566"/>
            <a:ext cx="11324335" cy="33860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166E2BD-4976-6DCE-A794-FD2063C3F71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23470" y="5615936"/>
            <a:ext cx="8118863" cy="532947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07A6D5F-CA99-07A1-F5A2-DCC297A36E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06668" y="19509141"/>
            <a:ext cx="7347978" cy="40868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623BA15-469A-94BF-B6DB-21099D6F5E1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257134" y="7200798"/>
            <a:ext cx="9419005" cy="594189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C11A2CF-657A-3E03-9EE2-CEE97414E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5828383"/>
              </p:ext>
            </p:extLst>
          </p:nvPr>
        </p:nvGraphicFramePr>
        <p:xfrm>
          <a:off x="24411624" y="16389330"/>
          <a:ext cx="10049756" cy="3309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4878">
                  <a:extLst>
                    <a:ext uri="{9D8B030D-6E8A-4147-A177-3AD203B41FA5}">
                      <a16:colId xmlns:a16="http://schemas.microsoft.com/office/drawing/2014/main" val="1080977457"/>
                    </a:ext>
                  </a:extLst>
                </a:gridCol>
                <a:gridCol w="5024878">
                  <a:extLst>
                    <a:ext uri="{9D8B030D-6E8A-4147-A177-3AD203B41FA5}">
                      <a16:colId xmlns:a16="http://schemas.microsoft.com/office/drawing/2014/main" val="422046628"/>
                    </a:ext>
                  </a:extLst>
                </a:gridCol>
              </a:tblGrid>
              <a:tr h="895631">
                <a:tc>
                  <a:txBody>
                    <a:bodyPr/>
                    <a:lstStyle/>
                    <a:p>
                      <a:pPr algn="ctr"/>
                      <a:r>
                        <a:rPr lang="en-US" sz="3600" dirty="0"/>
                        <a:t>Criteria</a:t>
                      </a:r>
                      <a:endParaRPr lang="en-I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1" algn="l"/>
                      <a:r>
                        <a:rPr lang="en-US" sz="36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Result</a:t>
                      </a:r>
                      <a:endParaRPr lang="en-IL" sz="36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3546369"/>
                  </a:ext>
                </a:extLst>
              </a:tr>
              <a:tr h="918702">
                <a:tc>
                  <a:txBody>
                    <a:bodyPr/>
                    <a:lstStyle/>
                    <a:p>
                      <a:pPr marL="0" algn="ctr" defTabSz="3359963" rtl="0" eaLnBrk="1" latinLnBrk="0" hangingPunct="1"/>
                      <a:r>
                        <a:rPr lang="en-US" sz="34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Beat Alignment Error</a:t>
                      </a:r>
                      <a:endParaRPr lang="en-IL" sz="3400" b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4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15.67 </a:t>
                      </a:r>
                      <a:r>
                        <a:rPr lang="en-US" sz="34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ms</a:t>
                      </a:r>
                      <a:endParaRPr lang="en-IL" sz="3400" b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5785189"/>
                  </a:ext>
                </a:extLst>
              </a:tr>
              <a:tr h="676307">
                <a:tc>
                  <a:txBody>
                    <a:bodyPr/>
                    <a:lstStyle/>
                    <a:p>
                      <a:pPr algn="ctr"/>
                      <a:r>
                        <a:rPr lang="en-US" sz="34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Average Segment Latency</a:t>
                      </a:r>
                      <a:endParaRPr lang="en-IL" sz="3400" b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4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475 </a:t>
                      </a:r>
                      <a:r>
                        <a:rPr lang="en-US" sz="3400" b="0" u="none" strike="noStrike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ms</a:t>
                      </a:r>
                      <a:endParaRPr lang="en-IL" sz="3400" b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6515313"/>
                  </a:ext>
                </a:extLst>
              </a:tr>
              <a:tr h="540874">
                <a:tc>
                  <a:txBody>
                    <a:bodyPr/>
                    <a:lstStyle/>
                    <a:p>
                      <a:pPr algn="ctr"/>
                      <a:r>
                        <a:rPr lang="en-US" sz="34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Elapsed Time</a:t>
                      </a:r>
                      <a:endParaRPr lang="en-IL" sz="3400" b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400" b="0" u="none" strike="noStrike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38.47 sec</a:t>
                      </a:r>
                      <a:endParaRPr lang="en-IL" sz="3400" b="0" u="none" strike="noStrike" kern="120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8388736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CD0B9F5-0D96-8618-775F-1985AE434B5F}"/>
              </a:ext>
            </a:extLst>
          </p:cNvPr>
          <p:cNvSpPr txBox="1"/>
          <p:nvPr/>
        </p:nvSpPr>
        <p:spPr>
          <a:xfrm>
            <a:off x="4950443" y="14876871"/>
            <a:ext cx="42494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Block Diagram</a:t>
            </a:r>
            <a:endParaRPr lang="en-IL" sz="3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A33FC7-B234-CD8E-1656-E3E8BD6858B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686198" y="21469987"/>
            <a:ext cx="1028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Baskerville Old Face" panose="02020602080505020303" pitchFamily="18" charset="0"/>
              </a:rPr>
              <a:t>WS</a:t>
            </a:r>
            <a:endParaRPr lang="en-IL" dirty="0">
              <a:latin typeface="Baskerville Old Face" panose="020206020805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9494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3894B321F97984089F660A1B37BD856" ma:contentTypeVersion="8" ma:contentTypeDescription="Create a new document." ma:contentTypeScope="" ma:versionID="69f2837f18e45e11aaa12c857e6c5827">
  <xsd:schema xmlns:xsd="http://www.w3.org/2001/XMLSchema" xmlns:xs="http://www.w3.org/2001/XMLSchema" xmlns:p="http://schemas.microsoft.com/office/2006/metadata/properties" xmlns:ns3="844e0735-f53f-4baa-bd75-b10ae3a2bbdb" targetNamespace="http://schemas.microsoft.com/office/2006/metadata/properties" ma:root="true" ma:fieldsID="44cfe3dd05ba74ef950c29cbe3f766ab" ns3:_="">
    <xsd:import namespace="844e0735-f53f-4baa-bd75-b10ae3a2bbdb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_activity" minOccurs="0"/>
                <xsd:element ref="ns3:MediaServiceDateTaken" minOccurs="0"/>
                <xsd:element ref="ns3:MediaServiceSearchProperties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4e0735-f53f-4baa-bd75-b10ae3a2bbd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844e0735-f53f-4baa-bd75-b10ae3a2bbdb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03E978F-3A35-4737-8BBB-B7BB0C7F7EB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44e0735-f53f-4baa-bd75-b10ae3a2bbd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2713F10-82D8-4B91-A273-2BA44EB6FF7B}">
  <ds:schemaRefs>
    <ds:schemaRef ds:uri="http://schemas.microsoft.com/office/2006/metadata/properties"/>
    <ds:schemaRef ds:uri="http://purl.org/dc/dcmitype/"/>
    <ds:schemaRef ds:uri="http://purl.org/dc/elements/1.1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844e0735-f53f-4baa-bd75-b10ae3a2bbdb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DAADE9C2-8609-4046-AFB7-2D78D2E3679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252</TotalTime>
  <Words>347</Words>
  <Application>Microsoft Office PowerPoint</Application>
  <PresentationFormat>Custom</PresentationFormat>
  <Paragraphs>77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Aptos</vt:lpstr>
      <vt:lpstr>Aptos Display</vt:lpstr>
      <vt:lpstr>Arial</vt:lpstr>
      <vt:lpstr>Baskerville Old Face</vt:lpstr>
      <vt:lpstr>Calibri</vt:lpstr>
      <vt:lpstr>Cambria Math</vt:lpstr>
      <vt:lpstr>Georgia</vt:lpstr>
      <vt:lpstr>Open Sans Hebrew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 Ost</dc:creator>
  <cp:lastModifiedBy>Matan Granot</cp:lastModifiedBy>
  <cp:revision>22</cp:revision>
  <dcterms:created xsi:type="dcterms:W3CDTF">2025-05-10T11:28:38Z</dcterms:created>
  <dcterms:modified xsi:type="dcterms:W3CDTF">2026-05-20T21:40:22Z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0x01010063894B321F97984089F660A1B37BD856</vt:lpwstr>
  </property>
</Properties>
</file>