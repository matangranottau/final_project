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4"/>
  </p:sldMasterIdLst>
  <p:sldIdLst>
    <p:sldId id="256" r:id="rId5"/>
  </p:sldIdLst>
  <p:sldSz cx="35999738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BAEE"/>
    <a:srgbClr val="F5F5F5"/>
    <a:srgbClr val="E3E3E3"/>
    <a:srgbClr val="DEDEDE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75"/>
  </p:normalViewPr>
  <p:slideViewPr>
    <p:cSldViewPr snapToGrid="0">
      <p:cViewPr>
        <p:scale>
          <a:sx n="33" d="100"/>
          <a:sy n="33" d="100"/>
        </p:scale>
        <p:origin x="1722" y="24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4124164"/>
            <a:ext cx="30599777" cy="8773325"/>
          </a:xfrm>
        </p:spPr>
        <p:txBody>
          <a:bodyPr anchor="b"/>
          <a:lstStyle>
            <a:lvl1pPr algn="ctr">
              <a:defRPr sz="220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3235822"/>
            <a:ext cx="26999804" cy="6084159"/>
          </a:xfrm>
        </p:spPr>
        <p:txBody>
          <a:bodyPr/>
          <a:lstStyle>
            <a:lvl1pPr marL="0" indent="0" algn="ctr">
              <a:buNone/>
              <a:defRPr sz="8819"/>
            </a:lvl1pPr>
            <a:lvl2pPr marL="1679981" indent="0" algn="ctr">
              <a:buNone/>
              <a:defRPr sz="7349"/>
            </a:lvl2pPr>
            <a:lvl3pPr marL="3359963" indent="0" algn="ctr">
              <a:buNone/>
              <a:defRPr sz="6614"/>
            </a:lvl3pPr>
            <a:lvl4pPr marL="5039944" indent="0" algn="ctr">
              <a:buNone/>
              <a:defRPr sz="5879"/>
            </a:lvl4pPr>
            <a:lvl5pPr marL="6719926" indent="0" algn="ctr">
              <a:buNone/>
              <a:defRPr sz="5879"/>
            </a:lvl5pPr>
            <a:lvl6pPr marL="8399907" indent="0" algn="ctr">
              <a:buNone/>
              <a:defRPr sz="5879"/>
            </a:lvl6pPr>
            <a:lvl7pPr marL="10079888" indent="0" algn="ctr">
              <a:buNone/>
              <a:defRPr sz="5879"/>
            </a:lvl7pPr>
            <a:lvl8pPr marL="11759870" indent="0" algn="ctr">
              <a:buNone/>
              <a:defRPr sz="5879"/>
            </a:lvl8pPr>
            <a:lvl9pPr marL="13439851" indent="0" algn="ctr">
              <a:buNone/>
              <a:defRPr sz="587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03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72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6282501"/>
            <a:ext cx="31049774" cy="10482488"/>
          </a:xfrm>
        </p:spPr>
        <p:txBody>
          <a:bodyPr anchor="b"/>
          <a:lstStyle>
            <a:lvl1pPr>
              <a:defRPr sz="220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16864157"/>
            <a:ext cx="31049774" cy="5512493"/>
          </a:xfrm>
        </p:spPr>
        <p:txBody>
          <a:bodyPr/>
          <a:lstStyle>
            <a:lvl1pPr marL="0" indent="0">
              <a:buNone/>
              <a:defRPr sz="8819">
                <a:solidFill>
                  <a:schemeClr val="tx1">
                    <a:tint val="82000"/>
                  </a:schemeClr>
                </a:solidFill>
              </a:defRPr>
            </a:lvl1pPr>
            <a:lvl2pPr marL="1679981" indent="0">
              <a:buNone/>
              <a:defRPr sz="7349">
                <a:solidFill>
                  <a:schemeClr val="tx1">
                    <a:tint val="82000"/>
                  </a:schemeClr>
                </a:solidFill>
              </a:defRPr>
            </a:lvl2pPr>
            <a:lvl3pPr marL="3359963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3pPr>
            <a:lvl4pPr marL="5039944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4pPr>
            <a:lvl5pPr marL="6719926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5pPr>
            <a:lvl6pPr marL="8399907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6pPr>
            <a:lvl7pPr marL="10079888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7pPr>
            <a:lvl8pPr marL="11759870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8pPr>
            <a:lvl9pPr marL="13439851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18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6708326"/>
            <a:ext cx="15299889" cy="1598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6708326"/>
            <a:ext cx="15299889" cy="1598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2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341671"/>
            <a:ext cx="31049774" cy="48708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6177496"/>
            <a:ext cx="15229574" cy="3027495"/>
          </a:xfrm>
        </p:spPr>
        <p:txBody>
          <a:bodyPr anchor="b"/>
          <a:lstStyle>
            <a:lvl1pPr marL="0" indent="0">
              <a:buNone/>
              <a:defRPr sz="8819" b="1"/>
            </a:lvl1pPr>
            <a:lvl2pPr marL="1679981" indent="0">
              <a:buNone/>
              <a:defRPr sz="7349" b="1"/>
            </a:lvl2pPr>
            <a:lvl3pPr marL="3359963" indent="0">
              <a:buNone/>
              <a:defRPr sz="6614" b="1"/>
            </a:lvl3pPr>
            <a:lvl4pPr marL="5039944" indent="0">
              <a:buNone/>
              <a:defRPr sz="5879" b="1"/>
            </a:lvl4pPr>
            <a:lvl5pPr marL="6719926" indent="0">
              <a:buNone/>
              <a:defRPr sz="5879" b="1"/>
            </a:lvl5pPr>
            <a:lvl6pPr marL="8399907" indent="0">
              <a:buNone/>
              <a:defRPr sz="5879" b="1"/>
            </a:lvl6pPr>
            <a:lvl7pPr marL="10079888" indent="0">
              <a:buNone/>
              <a:defRPr sz="5879" b="1"/>
            </a:lvl7pPr>
            <a:lvl8pPr marL="11759870" indent="0">
              <a:buNone/>
              <a:defRPr sz="5879" b="1"/>
            </a:lvl8pPr>
            <a:lvl9pPr marL="13439851" indent="0">
              <a:buNone/>
              <a:defRPr sz="58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9204991"/>
            <a:ext cx="15229574" cy="13539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6177496"/>
            <a:ext cx="15304578" cy="3027495"/>
          </a:xfrm>
        </p:spPr>
        <p:txBody>
          <a:bodyPr anchor="b"/>
          <a:lstStyle>
            <a:lvl1pPr marL="0" indent="0">
              <a:buNone/>
              <a:defRPr sz="8819" b="1"/>
            </a:lvl1pPr>
            <a:lvl2pPr marL="1679981" indent="0">
              <a:buNone/>
              <a:defRPr sz="7349" b="1"/>
            </a:lvl2pPr>
            <a:lvl3pPr marL="3359963" indent="0">
              <a:buNone/>
              <a:defRPr sz="6614" b="1"/>
            </a:lvl3pPr>
            <a:lvl4pPr marL="5039944" indent="0">
              <a:buNone/>
              <a:defRPr sz="5879" b="1"/>
            </a:lvl4pPr>
            <a:lvl5pPr marL="6719926" indent="0">
              <a:buNone/>
              <a:defRPr sz="5879" b="1"/>
            </a:lvl5pPr>
            <a:lvl6pPr marL="8399907" indent="0">
              <a:buNone/>
              <a:defRPr sz="5879" b="1"/>
            </a:lvl6pPr>
            <a:lvl7pPr marL="10079888" indent="0">
              <a:buNone/>
              <a:defRPr sz="5879" b="1"/>
            </a:lvl7pPr>
            <a:lvl8pPr marL="11759870" indent="0">
              <a:buNone/>
              <a:defRPr sz="5879" b="1"/>
            </a:lvl8pPr>
            <a:lvl9pPr marL="13439851" indent="0">
              <a:buNone/>
              <a:defRPr sz="58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9204991"/>
            <a:ext cx="15304578" cy="13539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4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77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05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679998"/>
            <a:ext cx="11610853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3628335"/>
            <a:ext cx="18224867" cy="17908316"/>
          </a:xfrm>
        </p:spPr>
        <p:txBody>
          <a:bodyPr/>
          <a:lstStyle>
            <a:lvl1pPr>
              <a:defRPr sz="11758"/>
            </a:lvl1pPr>
            <a:lvl2pPr>
              <a:defRPr sz="10289"/>
            </a:lvl2pPr>
            <a:lvl3pPr>
              <a:defRPr sz="8819"/>
            </a:lvl3pPr>
            <a:lvl4pPr>
              <a:defRPr sz="7349"/>
            </a:lvl4pPr>
            <a:lvl5pPr>
              <a:defRPr sz="7349"/>
            </a:lvl5pPr>
            <a:lvl6pPr>
              <a:defRPr sz="7349"/>
            </a:lvl6pPr>
            <a:lvl7pPr>
              <a:defRPr sz="7349"/>
            </a:lvl7pPr>
            <a:lvl8pPr>
              <a:defRPr sz="7349"/>
            </a:lvl8pPr>
            <a:lvl9pPr>
              <a:defRPr sz="73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7559993"/>
            <a:ext cx="11610853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81" indent="0">
              <a:buNone/>
              <a:defRPr sz="5144"/>
            </a:lvl2pPr>
            <a:lvl3pPr marL="3359963" indent="0">
              <a:buNone/>
              <a:defRPr sz="4409"/>
            </a:lvl3pPr>
            <a:lvl4pPr marL="5039944" indent="0">
              <a:buNone/>
              <a:defRPr sz="3674"/>
            </a:lvl4pPr>
            <a:lvl5pPr marL="6719926" indent="0">
              <a:buNone/>
              <a:defRPr sz="3674"/>
            </a:lvl5pPr>
            <a:lvl6pPr marL="8399907" indent="0">
              <a:buNone/>
              <a:defRPr sz="3674"/>
            </a:lvl6pPr>
            <a:lvl7pPr marL="10079888" indent="0">
              <a:buNone/>
              <a:defRPr sz="3674"/>
            </a:lvl7pPr>
            <a:lvl8pPr marL="11759870" indent="0">
              <a:buNone/>
              <a:defRPr sz="3674"/>
            </a:lvl8pPr>
            <a:lvl9pPr marL="13439851" indent="0">
              <a:buNone/>
              <a:defRPr sz="36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97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679998"/>
            <a:ext cx="11610853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3628335"/>
            <a:ext cx="18224867" cy="17908316"/>
          </a:xfrm>
        </p:spPr>
        <p:txBody>
          <a:bodyPr anchor="t"/>
          <a:lstStyle>
            <a:lvl1pPr marL="0" indent="0">
              <a:buNone/>
              <a:defRPr sz="11758"/>
            </a:lvl1pPr>
            <a:lvl2pPr marL="1679981" indent="0">
              <a:buNone/>
              <a:defRPr sz="10289"/>
            </a:lvl2pPr>
            <a:lvl3pPr marL="3359963" indent="0">
              <a:buNone/>
              <a:defRPr sz="8819"/>
            </a:lvl3pPr>
            <a:lvl4pPr marL="5039944" indent="0">
              <a:buNone/>
              <a:defRPr sz="7349"/>
            </a:lvl4pPr>
            <a:lvl5pPr marL="6719926" indent="0">
              <a:buNone/>
              <a:defRPr sz="7349"/>
            </a:lvl5pPr>
            <a:lvl6pPr marL="8399907" indent="0">
              <a:buNone/>
              <a:defRPr sz="7349"/>
            </a:lvl6pPr>
            <a:lvl7pPr marL="10079888" indent="0">
              <a:buNone/>
              <a:defRPr sz="7349"/>
            </a:lvl7pPr>
            <a:lvl8pPr marL="11759870" indent="0">
              <a:buNone/>
              <a:defRPr sz="7349"/>
            </a:lvl8pPr>
            <a:lvl9pPr marL="13439851" indent="0">
              <a:buNone/>
              <a:defRPr sz="734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7559993"/>
            <a:ext cx="11610853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81" indent="0">
              <a:buNone/>
              <a:defRPr sz="5144"/>
            </a:lvl2pPr>
            <a:lvl3pPr marL="3359963" indent="0">
              <a:buNone/>
              <a:defRPr sz="4409"/>
            </a:lvl3pPr>
            <a:lvl4pPr marL="5039944" indent="0">
              <a:buNone/>
              <a:defRPr sz="3674"/>
            </a:lvl4pPr>
            <a:lvl5pPr marL="6719926" indent="0">
              <a:buNone/>
              <a:defRPr sz="3674"/>
            </a:lvl5pPr>
            <a:lvl6pPr marL="8399907" indent="0">
              <a:buNone/>
              <a:defRPr sz="3674"/>
            </a:lvl6pPr>
            <a:lvl7pPr marL="10079888" indent="0">
              <a:buNone/>
              <a:defRPr sz="3674"/>
            </a:lvl7pPr>
            <a:lvl8pPr marL="11759870" indent="0">
              <a:buNone/>
              <a:defRPr sz="3674"/>
            </a:lvl8pPr>
            <a:lvl9pPr marL="13439851" indent="0">
              <a:buNone/>
              <a:defRPr sz="36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06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75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341665"/>
            <a:ext cx="7762444" cy="213558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341665"/>
            <a:ext cx="22837334" cy="213558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6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341671"/>
            <a:ext cx="31049774" cy="487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6708326"/>
            <a:ext cx="31049774" cy="15989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23356649"/>
            <a:ext cx="8099941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BFBC8-CE72-EF49-83B3-C915A10C458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23356649"/>
            <a:ext cx="12149912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23356649"/>
            <a:ext cx="8099941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24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359963" rtl="0" eaLnBrk="1" latinLnBrk="0" hangingPunct="1">
        <a:lnSpc>
          <a:spcPct val="90000"/>
        </a:lnSpc>
        <a:spcBef>
          <a:spcPct val="0"/>
        </a:spcBef>
        <a:buNone/>
        <a:defRPr sz="161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991" indent="-839991" algn="l" defTabSz="3359963" rtl="0" eaLnBrk="1" latinLnBrk="0" hangingPunct="1">
        <a:lnSpc>
          <a:spcPct val="90000"/>
        </a:lnSpc>
        <a:spcBef>
          <a:spcPts val="3674"/>
        </a:spcBef>
        <a:buFont typeface="Arial" panose="020B0604020202020204" pitchFamily="34" charset="0"/>
        <a:buChar char="•"/>
        <a:defRPr sz="10289" kern="1200">
          <a:solidFill>
            <a:schemeClr val="tx1"/>
          </a:solidFill>
          <a:latin typeface="+mn-lt"/>
          <a:ea typeface="+mn-ea"/>
          <a:cs typeface="+mn-cs"/>
        </a:defRPr>
      </a:lvl1pPr>
      <a:lvl2pPr marL="2519972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2pPr>
      <a:lvl3pPr marL="4199954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7349" kern="1200">
          <a:solidFill>
            <a:schemeClr val="tx1"/>
          </a:solidFill>
          <a:latin typeface="+mn-lt"/>
          <a:ea typeface="+mn-ea"/>
          <a:cs typeface="+mn-cs"/>
        </a:defRPr>
      </a:lvl3pPr>
      <a:lvl4pPr marL="5879935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4pPr>
      <a:lvl5pPr marL="7559916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5pPr>
      <a:lvl6pPr marL="9239898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0919879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2599861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4279842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79981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359963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039944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4pPr>
      <a:lvl5pPr marL="6719926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5pPr>
      <a:lvl6pPr marL="8399907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0079888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1759870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3439851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.docx"/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svg"/><Relationship Id="rId10" Type="http://schemas.openxmlformats.org/officeDocument/2006/relationships/image" Target="../media/image8.png"/><Relationship Id="rId4" Type="http://schemas.openxmlformats.org/officeDocument/2006/relationships/image" Target="../media/image3.svg"/><Relationship Id="rId9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EA173A7C-98D4-662B-E91A-3ACB122111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078827" y="12725249"/>
            <a:ext cx="11752653" cy="12455090"/>
          </a:xfrm>
          <a:custGeom>
            <a:avLst/>
            <a:gdLst>
              <a:gd name="connsiteX0" fmla="*/ 0 w 8312682"/>
              <a:gd name="connsiteY0" fmla="*/ 0 h 8809518"/>
              <a:gd name="connsiteX1" fmla="*/ 8312682 w 8312682"/>
              <a:gd name="connsiteY1" fmla="*/ 0 h 8809518"/>
              <a:gd name="connsiteX2" fmla="*/ 8248871 w 8312682"/>
              <a:gd name="connsiteY2" fmla="*/ 357325 h 8809518"/>
              <a:gd name="connsiteX3" fmla="*/ 264970 w 8312682"/>
              <a:gd name="connsiteY3" fmla="*/ 8748363 h 8809518"/>
              <a:gd name="connsiteX4" fmla="*/ 0 w 8312682"/>
              <a:gd name="connsiteY4" fmla="*/ 8809518 h 8809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12682" h="8809518">
                <a:moveTo>
                  <a:pt x="0" y="0"/>
                </a:moveTo>
                <a:lnTo>
                  <a:pt x="8312682" y="0"/>
                </a:lnTo>
                <a:lnTo>
                  <a:pt x="8248871" y="357325"/>
                </a:lnTo>
                <a:cubicBezTo>
                  <a:pt x="7410895" y="4452411"/>
                  <a:pt x="4284949" y="7714069"/>
                  <a:pt x="264970" y="8748363"/>
                </a:cubicBezTo>
                <a:lnTo>
                  <a:pt x="0" y="8809518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037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B3848E-C944-BA94-F84E-17ACF958EB4A}"/>
              </a:ext>
            </a:extLst>
          </p:cNvPr>
          <p:cNvSpPr>
            <a:spLocks/>
          </p:cNvSpPr>
          <p:nvPr/>
        </p:nvSpPr>
        <p:spPr>
          <a:xfrm>
            <a:off x="24029965" y="5703864"/>
            <a:ext cx="11160000" cy="17828842"/>
          </a:xfrm>
          <a:prstGeom prst="rect">
            <a:avLst/>
          </a:prstGeom>
          <a:solidFill>
            <a:srgbClr val="F5F5F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2519995">
              <a:defRPr/>
            </a:pPr>
            <a:endParaRPr lang="en-US" sz="3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B0C629-A0BD-27E1-641C-639B84044F91}"/>
              </a:ext>
            </a:extLst>
          </p:cNvPr>
          <p:cNvSpPr txBox="1"/>
          <p:nvPr/>
        </p:nvSpPr>
        <p:spPr>
          <a:xfrm>
            <a:off x="24335961" y="5658025"/>
            <a:ext cx="10504800" cy="18558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5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Results</a:t>
            </a:r>
          </a:p>
          <a:p>
            <a:pPr marL="0" marR="0" lvl="0" indent="0" algn="just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that elaborates on the conclusions followed by an example table that presents the project conclusions. You may also include graphs, plots, images, tables etc..</a:t>
            </a:r>
          </a:p>
          <a:p>
            <a:pPr marL="0" marR="0" lvl="0" indent="0" algn="just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654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l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654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l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654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l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654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l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654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l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654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l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654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l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654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l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654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ctr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5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References</a:t>
            </a:r>
          </a:p>
          <a:p>
            <a:pPr lvl="0" algn="just" defTabSz="2519995"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 attention: this section </a:t>
            </a:r>
            <a:r>
              <a:rPr lang="en-US" sz="3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should include only the </a:t>
            </a: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citations relevant to the poster and not for the entire project.</a:t>
            </a:r>
          </a:p>
          <a:p>
            <a:pPr marL="0" marR="0" lvl="0" indent="0" algn="just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there are no relevant citations for the poster, the references section may be omitted from the poster. </a:t>
            </a:r>
          </a:p>
          <a:p>
            <a:pPr marL="0" marR="0" lvl="0" indent="0" algn="just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A. M. Bronstein, M. M. Bronstein, and R. Kimmel. "Numerical geometry of non-rigid shapes”, Springer-Verlag New York Inc, 2008.</a:t>
            </a:r>
          </a:p>
          <a:p>
            <a:pPr marL="0" marR="0" lvl="0" indent="0" algn="just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[2]  G. Welch and G. Bishop – "An Introduction to the Kalman Filter", http://www.cs.unc.edu/~welch/kalman/kalman_filter/kalman.html#pgfId-11854 </a:t>
            </a:r>
          </a:p>
          <a:p>
            <a:pPr lvl="0" defTabSz="2519995">
              <a:defRPr/>
            </a:pP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1BDC1F-4253-93BE-E909-D2E3E16B33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44" y="23773252"/>
            <a:ext cx="35651367" cy="1407088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16CA00FE-82B9-8932-EFAB-2706DD59754C}"/>
              </a:ext>
            </a:extLst>
          </p:cNvPr>
          <p:cNvSpPr>
            <a:spLocks/>
          </p:cNvSpPr>
          <p:nvPr/>
        </p:nvSpPr>
        <p:spPr>
          <a:xfrm>
            <a:off x="185731" y="5039"/>
            <a:ext cx="11752653" cy="12455090"/>
          </a:xfrm>
          <a:custGeom>
            <a:avLst/>
            <a:gdLst>
              <a:gd name="connsiteX0" fmla="*/ 0 w 8312682"/>
              <a:gd name="connsiteY0" fmla="*/ 0 h 8809518"/>
              <a:gd name="connsiteX1" fmla="*/ 8312682 w 8312682"/>
              <a:gd name="connsiteY1" fmla="*/ 0 h 8809518"/>
              <a:gd name="connsiteX2" fmla="*/ 8248871 w 8312682"/>
              <a:gd name="connsiteY2" fmla="*/ 357325 h 8809518"/>
              <a:gd name="connsiteX3" fmla="*/ 264970 w 8312682"/>
              <a:gd name="connsiteY3" fmla="*/ 8748363 h 8809518"/>
              <a:gd name="connsiteX4" fmla="*/ 0 w 8312682"/>
              <a:gd name="connsiteY4" fmla="*/ 8809518 h 8809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12682" h="8809518">
                <a:moveTo>
                  <a:pt x="0" y="0"/>
                </a:moveTo>
                <a:lnTo>
                  <a:pt x="8312682" y="0"/>
                </a:lnTo>
                <a:lnTo>
                  <a:pt x="8248871" y="357325"/>
                </a:lnTo>
                <a:cubicBezTo>
                  <a:pt x="7410895" y="4452411"/>
                  <a:pt x="4284949" y="7714069"/>
                  <a:pt x="264970" y="8748363"/>
                </a:cubicBezTo>
                <a:lnTo>
                  <a:pt x="0" y="8809518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46357" rtl="1"/>
            <a:endParaRPr lang="en-US" sz="3037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FEDB904-F567-0976-A615-296E3DFB021F}"/>
              </a:ext>
            </a:extLst>
          </p:cNvPr>
          <p:cNvGrpSpPr/>
          <p:nvPr/>
        </p:nvGrpSpPr>
        <p:grpSpPr>
          <a:xfrm>
            <a:off x="185731" y="18722"/>
            <a:ext cx="35651367" cy="1407088"/>
            <a:chOff x="185731" y="18722"/>
            <a:chExt cx="35651367" cy="140708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F0D1D2B-CD74-3EC0-1A7E-DD2823DA6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731" y="18722"/>
              <a:ext cx="35651367" cy="140708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A5350F39-C37A-6532-34D2-E7EA627780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1408874" y="257838"/>
              <a:ext cx="3655103" cy="928853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FF67915-D1F3-C9D7-C6EC-4FD70CFE97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5764" y="181120"/>
              <a:ext cx="5796815" cy="1005571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5E4EFAB-AB8C-CA28-1D50-48A1B49E8B20}"/>
              </a:ext>
            </a:extLst>
          </p:cNvPr>
          <p:cNvSpPr>
            <a:spLocks/>
          </p:cNvSpPr>
          <p:nvPr/>
        </p:nvSpPr>
        <p:spPr>
          <a:xfrm>
            <a:off x="809778" y="1440891"/>
            <a:ext cx="34403273" cy="3921038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46357" rtl="1"/>
            <a:endParaRPr lang="en-US" sz="3037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DC5E95-292C-ABA8-58EF-6AEFEBCEF01C}"/>
              </a:ext>
            </a:extLst>
          </p:cNvPr>
          <p:cNvSpPr txBox="1">
            <a:spLocks/>
          </p:cNvSpPr>
          <p:nvPr/>
        </p:nvSpPr>
        <p:spPr>
          <a:xfrm>
            <a:off x="809779" y="1578118"/>
            <a:ext cx="34380186" cy="1267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634" b="1" dirty="0" err="1">
                <a:solidFill>
                  <a:srgbClr val="F5F5F5"/>
                </a:solidFill>
                <a:latin typeface="Georgia" panose="02040502050405020303" pitchFamily="18" charset="0"/>
              </a:rPr>
              <a:t>SyncRun</a:t>
            </a:r>
            <a:r>
              <a:rPr lang="en-US" sz="7634" b="1" dirty="0">
                <a:solidFill>
                  <a:srgbClr val="F5F5F5"/>
                </a:solidFill>
                <a:latin typeface="Georgia" panose="02040502050405020303" pitchFamily="18" charset="0"/>
              </a:rPr>
              <a:t> – Align music to running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56FB1D-CB3A-ADB9-F137-C4249CAB9851}"/>
              </a:ext>
            </a:extLst>
          </p:cNvPr>
          <p:cNvSpPr txBox="1">
            <a:spLocks/>
          </p:cNvSpPr>
          <p:nvPr/>
        </p:nvSpPr>
        <p:spPr>
          <a:xfrm>
            <a:off x="8487505" y="2765365"/>
            <a:ext cx="18390794" cy="1658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Matan Granot, Yogev Grinblatt</a:t>
            </a:r>
            <a:endParaRPr lang="he-IL" sz="4000" dirty="0">
              <a:cs typeface="Open Sans Hebrew" panose="00000500000000000000" pitchFamily="2" charset="-79"/>
            </a:endParaRPr>
          </a:p>
          <a:p>
            <a:pPr algn="ctr"/>
            <a:r>
              <a:rPr lang="en-US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Advisor</a:t>
            </a:r>
            <a:r>
              <a:rPr lang="he-IL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Dr. Lior Arbel</a:t>
            </a:r>
            <a:endParaRPr lang="he-IL" sz="5089" b="1" dirty="0">
              <a:solidFill>
                <a:srgbClr val="E3E3E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0E0FC3-54B6-7A22-6620-BBA9DC55242F}"/>
              </a:ext>
            </a:extLst>
          </p:cNvPr>
          <p:cNvSpPr>
            <a:spLocks/>
          </p:cNvSpPr>
          <p:nvPr/>
        </p:nvSpPr>
        <p:spPr>
          <a:xfrm>
            <a:off x="827246" y="5466624"/>
            <a:ext cx="11160000" cy="17828842"/>
          </a:xfrm>
          <a:prstGeom prst="rect">
            <a:avLst/>
          </a:prstGeom>
          <a:solidFill>
            <a:srgbClr val="F5F5F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B82CFC1-305C-A411-B1FF-DD54AA94EB29}"/>
                  </a:ext>
                </a:extLst>
              </p:cNvPr>
              <p:cNvSpPr txBox="1"/>
              <p:nvPr/>
            </p:nvSpPr>
            <p:spPr>
              <a:xfrm>
                <a:off x="1158977" y="5658025"/>
                <a:ext cx="10503375" cy="193910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 defTabSz="2519995">
                  <a:defRPr/>
                </a:pPr>
                <a:r>
                  <a:rPr lang="en-US" sz="5654" b="1" dirty="0">
                    <a:latin typeface="Georgia" panose="02040502050405020303" pitchFamily="18" charset="0"/>
                  </a:rPr>
                  <a:t>Introduction</a:t>
                </a:r>
              </a:p>
              <a:p>
                <a:pPr lvl="0" algn="just" defTabSz="2519995">
                  <a:defRPr/>
                </a:pPr>
                <a:r>
                  <a:rPr lang="en-US" sz="3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our project, we want to adjust a simple rhythmic song – like “Seven Nation Army” to match the simulated steps of a runner, during his various workouts.</a:t>
                </a:r>
              </a:p>
              <a:p>
                <a:pPr lvl="0" algn="just" defTabSz="2519995">
                  <a:defRPr/>
                </a:pPr>
                <a:r>
                  <a:rPr lang="en-US" sz="3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is done by using DSP algorithms, to find the optimal speed-up/speed-down rate, and to stretch the audio by the best value, while keeping the pitch of the original song. These algorithms are implemented in python.</a:t>
                </a:r>
              </a:p>
              <a:p>
                <a:pPr lvl="0" algn="just" defTabSz="2519995">
                  <a:defRPr/>
                </a:pPr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 algn="ctr" defTabSz="2519995">
                  <a:defRPr/>
                </a:pPr>
                <a:r>
                  <a:rPr lang="en-US" sz="5654" b="1" dirty="0">
                    <a:latin typeface="Georgia" panose="02040502050405020303" pitchFamily="18" charset="0"/>
                  </a:rPr>
                  <a:t>Motivation</a:t>
                </a:r>
              </a:p>
              <a:p>
                <a:pPr lvl="0" algn="just" defTabSz="2519995">
                  <a:defRPr/>
                </a:pPr>
                <a:r>
                  <a:rPr lang="en-US" sz="3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want to give the runner smoother running experience. Because in reality, most of the songs are slower than the average runner pace.</a:t>
                </a:r>
              </a:p>
              <a:p>
                <a:pPr lvl="0" algn="just" defTabSz="2519995">
                  <a:defRPr/>
                </a:pPr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sz="6600" b="1" dirty="0">
                    <a:latin typeface="Georgia" panose="02040502050405020303" pitchFamily="18" charset="0"/>
                  </a:rPr>
                  <a:t>Implementation</a:t>
                </a:r>
              </a:p>
              <a:p>
                <a:endParaRPr lang="en-US" sz="3600" dirty="0"/>
              </a:p>
              <a:p>
                <a:endParaRPr lang="en-US" sz="3600" dirty="0"/>
              </a:p>
              <a:p>
                <a:endParaRPr lang="en-US" sz="3600" dirty="0"/>
              </a:p>
              <a:p>
                <a:endParaRPr lang="en-US" sz="3600" dirty="0"/>
              </a:p>
              <a:p>
                <a:endParaRPr lang="en-US" sz="3600" dirty="0"/>
              </a:p>
              <a:p>
                <a:endParaRPr lang="en-US" sz="3600" dirty="0"/>
              </a:p>
              <a:p>
                <a:endParaRPr lang="en-US" sz="3600" dirty="0"/>
              </a:p>
              <a:p>
                <a:r>
                  <a:rPr lang="en-US" sz="3400" b="1" dirty="0"/>
                  <a:t>Pre-processing: </a:t>
                </a:r>
                <a:r>
                  <a:rPr lang="en-US" sz="3400" dirty="0"/>
                  <a:t>First, we make 2 time-stamped vectors – One is the extracted song beats time stamps, and the other is simulated run steps time samps.</a:t>
                </a:r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3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Then we do beat alignment - divide those vectors in segments of 2.5 seconds, and find the best speed-up ratio for each segment, in terms of L1 distance.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𝐿</m:t>
                      </m:r>
                      <m:r>
                        <a:rPr lang="en-US" sz="3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1</m:t>
                      </m:r>
                      <m:r>
                        <a:rPr lang="en-US" sz="3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:</m:t>
                      </m:r>
                      <m:sSub>
                        <m:sSubPr>
                          <m:ctrlP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𝑎𝑟𝑔𝑚𝑖𝑛</m:t>
                          </m:r>
                        </m:e>
                        <m:sub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𝑟</m:t>
                          </m:r>
                        </m:sub>
                      </m:sSub>
                      <m:r>
                        <a:rPr lang="en-US" sz="3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acc>
                        <m:accPr>
                          <m:chr m:val="⃗"/>
                          <m:ctrlP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𝑏𝑒𝑎𝑡𝑠</m:t>
                          </m:r>
                        </m:e>
                      </m:acc>
                      <m:r>
                        <a:rPr lang="en-US" sz="3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𝑠𝑝𝑒𝑒𝑑</m:t>
                          </m:r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𝑢𝑝</m:t>
                          </m:r>
                        </m:sub>
                      </m:sSub>
                      <m:r>
                        <a:rPr lang="en-US" sz="3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∗</m:t>
                      </m:r>
                      <m:acc>
                        <m:accPr>
                          <m:chr m:val="⃗"/>
                          <m:ctrlP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𝑠𝑡𝑒𝑝𝑠</m:t>
                          </m:r>
                        </m:e>
                      </m:acc>
                      <m:r>
                        <a:rPr lang="en-US" sz="3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}</m:t>
                      </m:r>
                    </m:oMath>
                  </m:oMathPara>
                </a14:m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 algn="just" defTabSz="2519995">
                  <a:defRPr/>
                </a:pPr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B82CFC1-305C-A411-B1FF-DD54AA94E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977" y="5658025"/>
                <a:ext cx="10503375" cy="19391078"/>
              </a:xfrm>
              <a:prstGeom prst="rect">
                <a:avLst/>
              </a:prstGeom>
              <a:blipFill>
                <a:blip r:embed="rId6"/>
                <a:stretch>
                  <a:fillRect l="-1625" t="-880" r="-162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8C0AAB24-095F-B78F-4B9B-B1818F11F683}"/>
              </a:ext>
            </a:extLst>
          </p:cNvPr>
          <p:cNvSpPr>
            <a:spLocks/>
          </p:cNvSpPr>
          <p:nvPr/>
        </p:nvSpPr>
        <p:spPr>
          <a:xfrm>
            <a:off x="12379743" y="5690835"/>
            <a:ext cx="11160000" cy="17828842"/>
          </a:xfrm>
          <a:prstGeom prst="rect">
            <a:avLst/>
          </a:prstGeom>
          <a:solidFill>
            <a:srgbClr val="F5F5F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37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A25792-806E-7010-FEF7-A9FE738D7F23}"/>
              </a:ext>
            </a:extLst>
          </p:cNvPr>
          <p:cNvSpPr txBox="1"/>
          <p:nvPr/>
        </p:nvSpPr>
        <p:spPr>
          <a:xfrm>
            <a:off x="12579899" y="5690835"/>
            <a:ext cx="10504800" cy="15077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2519995">
              <a:defRPr/>
            </a:pP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 defTabSz="2519995">
              <a:defRPr/>
            </a:pPr>
            <a:endParaRPr lang="en-US" sz="5654" b="1" dirty="0">
              <a:latin typeface="Georgia" panose="02040502050405020303" pitchFamily="18" charset="0"/>
            </a:endParaRPr>
          </a:p>
          <a:p>
            <a:pPr lvl="0" algn="just" defTabSz="2519995">
              <a:defRPr/>
            </a:pPr>
            <a:endParaRPr lang="en-US" sz="5654" b="1" dirty="0">
              <a:latin typeface="Georgia" panose="02040502050405020303" pitchFamily="18" charset="0"/>
            </a:endParaRPr>
          </a:p>
          <a:p>
            <a:pPr lvl="0" algn="just" defTabSz="2519995">
              <a:defRPr/>
            </a:pPr>
            <a:endParaRPr lang="en-US" sz="5654" b="1" dirty="0">
              <a:latin typeface="Georgia" panose="02040502050405020303" pitchFamily="18" charset="0"/>
            </a:endParaRPr>
          </a:p>
          <a:p>
            <a:pPr lvl="0" algn="just" defTabSz="2519995">
              <a:defRPr/>
            </a:pPr>
            <a:endParaRPr lang="en-US" sz="5654" b="1" dirty="0">
              <a:latin typeface="Georgia" panose="02040502050405020303" pitchFamily="18" charset="0"/>
            </a:endParaRPr>
          </a:p>
          <a:p>
            <a:pPr lvl="0" algn="just" defTabSz="2519995">
              <a:defRPr/>
            </a:pPr>
            <a:endParaRPr lang="en-US" sz="5654" b="1" dirty="0">
              <a:latin typeface="Georgia" panose="02040502050405020303" pitchFamily="18" charset="0"/>
            </a:endParaRPr>
          </a:p>
          <a:p>
            <a:pPr lvl="0" algn="ctr" defTabSz="2519995">
              <a:defRPr/>
            </a:pPr>
            <a:endParaRPr lang="en-US" sz="5654" b="1" dirty="0">
              <a:latin typeface="Georgia" panose="02040502050405020303" pitchFamily="18" charset="0"/>
            </a:endParaRPr>
          </a:p>
          <a:p>
            <a:pPr lvl="0" defTabSz="2519995">
              <a:defRPr/>
            </a:pP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HPS (Harmonic-Precussive </a:t>
            </a: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Seperation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Then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apply STFT transformation : [Yogev Enter STFT Equation]</a:t>
            </a:r>
          </a:p>
          <a:p>
            <a:pPr lvl="0" defTabSz="2519995">
              <a:defRPr/>
            </a:pP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2519995">
              <a:defRPr/>
            </a:pP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use median filters to separate the harmonic and percussive content.</a:t>
            </a:r>
            <a:endParaRPr lang="en-US" sz="3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 defTabSz="2519995">
              <a:defRPr/>
            </a:pPr>
            <a:endParaRPr lang="en-US" sz="5654" b="1" dirty="0">
              <a:latin typeface="Georgia" panose="02040502050405020303" pitchFamily="18" charset="0"/>
            </a:endParaRPr>
          </a:p>
          <a:p>
            <a:pPr lvl="0" defTabSz="2519995">
              <a:defRPr/>
            </a:pPr>
            <a:endParaRPr lang="en-US" sz="3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2519995">
              <a:defRPr/>
            </a:pP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WSOLA:</a:t>
            </a:r>
          </a:p>
          <a:p>
            <a:pPr lvl="0" defTabSz="2519995">
              <a:defRPr/>
            </a:pP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2519995">
              <a:defRPr/>
            </a:pP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vocoder (PV-TSM): </a:t>
            </a:r>
          </a:p>
          <a:p>
            <a:pPr lvl="0" algn="just" defTabSz="2519995">
              <a:defRPr/>
            </a:pP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 defTabSz="2519995">
              <a:defRPr/>
            </a:pP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 defTabSz="2519995">
              <a:defRPr/>
            </a:pP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 defTabSz="2519995">
              <a:defRPr/>
            </a:pP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 defTabSz="2519995">
              <a:defRPr/>
            </a:pP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 defTabSz="2519995">
              <a:defRPr/>
            </a:pP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2519995">
              <a:defRPr/>
            </a:pP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1408874" y="23596032"/>
            <a:ext cx="4471468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2400" b="1" u="sng" dirty="0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ON’T FORGET TO DELETE THIS TEXT! This spot is a reserved spot for the company/lab logo, only if applicable!</a:t>
            </a:r>
            <a:endParaRPr lang="he-IL" sz="2400" b="1" u="sng" dirty="0">
              <a:solidFill>
                <a:srgbClr val="FF0000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1" name="תמונה 36">
            <a:extLst>
              <a:ext uri="{FF2B5EF4-FFF2-40B4-BE49-F238E27FC236}">
                <a16:creationId xmlns:a16="http://schemas.microsoft.com/office/drawing/2014/main" id="{D0C35DA6-B456-ACFC-F964-EC5AD63B651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1175" y="11372958"/>
            <a:ext cx="7297579" cy="530161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" name="Object 39">
            <a:extLst>
              <a:ext uri="{FF2B5EF4-FFF2-40B4-BE49-F238E27FC236}">
                <a16:creationId xmlns:a16="http://schemas.microsoft.com/office/drawing/2014/main" id="{FA2C9B1A-6C03-D5D2-C407-DA31EE9CEC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8334617"/>
              </p:ext>
            </p:extLst>
          </p:nvPr>
        </p:nvGraphicFramePr>
        <p:xfrm>
          <a:off x="23338479" y="8155860"/>
          <a:ext cx="11539193" cy="3630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7036093" imgH="2213776" progId="Word.Document.12">
                  <p:embed/>
                </p:oleObj>
              </mc:Choice>
              <mc:Fallback>
                <p:oleObj name="Document" r:id="rId8" imgW="7036093" imgH="2213776" progId="Word.Document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338479" y="8155860"/>
                        <a:ext cx="11539193" cy="36305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A9E7048A-0105-0DB4-1E9E-8A43F18ADB4F}"/>
              </a:ext>
            </a:extLst>
          </p:cNvPr>
          <p:cNvSpPr txBox="1">
            <a:spLocks/>
          </p:cNvSpPr>
          <p:nvPr/>
        </p:nvSpPr>
        <p:spPr>
          <a:xfrm>
            <a:off x="9121439" y="4364259"/>
            <a:ext cx="18390794" cy="875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</a:t>
            </a:r>
            <a:r>
              <a:rPr lang="en-US" sz="395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Number: 25-1-1-3408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4C5F3C9-EC7F-7F8B-E427-D63B561A8C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99" y="14981566"/>
            <a:ext cx="11324335" cy="338601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166E2BD-4976-6DCE-A794-FD2063C3F7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706667" y="5611271"/>
            <a:ext cx="8118863" cy="532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494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894B321F97984089F660A1B37BD856" ma:contentTypeVersion="8" ma:contentTypeDescription="Create a new document." ma:contentTypeScope="" ma:versionID="69f2837f18e45e11aaa12c857e6c5827">
  <xsd:schema xmlns:xsd="http://www.w3.org/2001/XMLSchema" xmlns:xs="http://www.w3.org/2001/XMLSchema" xmlns:p="http://schemas.microsoft.com/office/2006/metadata/properties" xmlns:ns3="844e0735-f53f-4baa-bd75-b10ae3a2bbdb" targetNamespace="http://schemas.microsoft.com/office/2006/metadata/properties" ma:root="true" ma:fieldsID="44cfe3dd05ba74ef950c29cbe3f766ab" ns3:_="">
    <xsd:import namespace="844e0735-f53f-4baa-bd75-b10ae3a2bbd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4e0735-f53f-4baa-bd75-b10ae3a2bb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44e0735-f53f-4baa-bd75-b10ae3a2bbd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3E978F-3A35-4737-8BBB-B7BB0C7F7E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4e0735-f53f-4baa-bd75-b10ae3a2bb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713F10-82D8-4B91-A273-2BA44EB6FF7B}">
  <ds:schemaRefs>
    <ds:schemaRef ds:uri="http://schemas.microsoft.com/office/2006/metadata/properties"/>
    <ds:schemaRef ds:uri="http://purl.org/dc/dcmitype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844e0735-f53f-4baa-bd75-b10ae3a2bbdb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AADE9C2-8609-4046-AFB7-2D78D2E3679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</TotalTime>
  <Words>406</Words>
  <Application>Microsoft Office PowerPoint</Application>
  <PresentationFormat>Custom</PresentationFormat>
  <Paragraphs>63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Cambria Math</vt:lpstr>
      <vt:lpstr>Georgia</vt:lpstr>
      <vt:lpstr>Open Sans Hebrew</vt:lpstr>
      <vt:lpstr>Office Theme</vt:lpstr>
      <vt:lpstr>Document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Ost</dc:creator>
  <cp:lastModifiedBy>Matan Granot</cp:lastModifiedBy>
  <cp:revision>19</cp:revision>
  <dcterms:created xsi:type="dcterms:W3CDTF">2025-05-10T11:28:38Z</dcterms:created>
  <dcterms:modified xsi:type="dcterms:W3CDTF">2026-05-18T12:08:20Z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0x01010063894B321F97984089F660A1B37BD856</vt:lpwstr>
  </property>
</Properties>
</file>